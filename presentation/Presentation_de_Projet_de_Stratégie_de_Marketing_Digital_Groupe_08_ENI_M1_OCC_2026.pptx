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64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F2A44"/>
                </a:solidFill>
                <a:latin typeface="Calibri"/>
              </a:defRPr>
            </a:pPr>
            <a:r>
              <a:rPr sz="1300" b="0" i="0" u="none" strike="noStrike">
                <a:solidFill>
                  <a:srgbClr val="1F2A44"/>
                </a:solidFill>
                <a:latin typeface="Calibri"/>
              </a:rPr>
              <a:t>ROI par canal (%)</a:t>
            </a:r>
          </a:p>
        </c:rich>
      </c:tx>
      <c:overlay val="0"/>
    </c:title>
    <c:autoTitleDeleted val="0"/>
    <c:plotArea>
      <c:layout/>
      <c:barChart>
        <c:barDir val="bar"/>
        <c:grouping val="clustered"/>
        <c:varyColors val="0"/>
        <c:ser>
          <c:idx val="0"/>
          <c:order val="0"/>
          <c:tx>
            <c:strRef>
              <c:f>Sheet1!$B$1</c:f>
              <c:strCache>
                <c:ptCount val="1"/>
                <c:pt idx="0">
                  <c:v>ROI</c:v>
                </c:pt>
              </c:strCache>
            </c:strRef>
          </c:tx>
          <c:spPr>
            <a:solidFill>
              <a:srgbClr val="1B5E55"/>
            </a:solidFill>
            <a:effectLst/>
          </c:spPr>
          <c:invertIfNegative val="0"/>
          <c:dLbls>
            <c:numFmt formatCode="#,##0" sourceLinked="0"/>
            <c:spPr>
              <a:noFill/>
              <a:ln>
                <a:noFill/>
              </a:ln>
              <a:effectLst/>
            </c:spPr>
            <c:txPr>
              <a:bodyPr/>
              <a:lstStyle/>
              <a:p>
                <a:pPr>
                  <a:defRPr sz="1100" b="0" i="0" u="none" strike="noStrike">
                    <a:solidFill>
                      <a:srgbClr val="1F2A44"/>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In-Store</c:v>
                </c:pt>
                <c:pt idx="1">
                  <c:v>TV</c:v>
                </c:pt>
                <c:pt idx="2">
                  <c:v>Email</c:v>
                </c:pt>
                <c:pt idx="3">
                  <c:v>Social</c:v>
                </c:pt>
                <c:pt idx="4">
                  <c:v>Online</c:v>
                </c:pt>
              </c:strCache>
            </c:strRef>
          </c:cat>
          <c:val>
            <c:numRef>
              <c:f>Sheet1!$B$2:$B$6</c:f>
              <c:numCache>
                <c:formatCode>General</c:formatCode>
                <c:ptCount val="5"/>
                <c:pt idx="0">
                  <c:v>233</c:v>
                </c:pt>
                <c:pt idx="1">
                  <c:v>317</c:v>
                </c:pt>
                <c:pt idx="2">
                  <c:v>400</c:v>
                </c:pt>
                <c:pt idx="3">
                  <c:v>400</c:v>
                </c:pt>
                <c:pt idx="4">
                  <c:v>650</c:v>
                </c:pt>
              </c:numCache>
            </c:numRef>
          </c:val>
          <c:extLst>
            <c:ext xmlns:c16="http://schemas.microsoft.com/office/drawing/2014/chart" uri="{C3380CC4-5D6E-409C-BE32-E72D297353CC}">
              <c16:uniqueId val="{00000000-9C5A-4ADD-BA13-E6E1BCFCBC68}"/>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A44"/>
                </a:solidFill>
                <a:latin typeface="Calibri"/>
              </a:defRPr>
            </a:pPr>
            <a:endParaRPr lang="en-US"/>
          </a:p>
        </c:txPr>
        <c:crossAx val="2094734552"/>
        <c:crosses val="autoZero"/>
        <c:auto val="1"/>
        <c:lblAlgn val="ctr"/>
        <c:lblOffset val="100"/>
        <c:noMultiLvlLbl val="1"/>
      </c:catAx>
      <c:valAx>
        <c:axId val="2094734552"/>
        <c:scaling>
          <c:orientation val="minMax"/>
          <c:max val="760"/>
          <c:min val="0"/>
        </c:scaling>
        <c:delete val="0"/>
        <c:axPos val="b"/>
        <c:majorGridlines>
          <c:spPr>
            <a:ln w="12700" cap="flat">
              <a:solidFill>
                <a:srgbClr val="E8EC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06772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titre. Ce projet couvre l'ensemble de la chaîne : partir de données brutes clients, produits, ventes et campagnes, et aboutir à une stratégie marketing digitale personnalisée accompagnée d'un tableau de bord interactif. Neuf modules pédagogiques, six intervenants, chacun produisant un livrable normalisé consommé par le suivant.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de départ du projet : une campagne générique dépense le même budget sur tous les clients, alors que tous les clients ne se valent pas. Quatre fichiers bruts sont fournis — clients, produits, ventes et campagnes. Neuf modules et six intervenants transforment ces fichiers en une stratégie unique et actionnable. L'enjeu n'est pas de collecter plus de données, mais de construire la chaîne qui les rend exploitables.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méthodologie repose sur un contrat de données partagé : chaque intervenant sait exactement quelles colonnes il reçoit et quelles colonnes il doit produire. La Personne 1 nettoie et enrichit les trois fichiers sources. La Personne 2 en tire des clusters. La Personne 3 les humanise en personas. La Personne 4 travaille en parallèle sur les campagnes, sans dépendance. La Personne 5 construit le modèle prédictif. La Personne 6 croise l'ensemble. C'est cette normalisation qui a permis à six personnes de travailler largement en parallèle sans friction d'intégration.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Personne 1 est le premier maillon et conditionne le travail de quatre autres membres. Le module M1 fixe le cadre stratégique sans code : analyse SWOT de la personnalisation, les 5P appliqués aux données réellement disponibles, et un parcours client découverte-conversion-fidélisation relié aux colonnes qui le mesurent. Le module M2 produit les fichiers nettoyés : conversion des dates, suppression des doublons, vérification des plages d'âge, normalisation des catégories. Deux variables ont été ajoutées : le montant total par transaction et les tranches d'âge. Le principal constat exploitable à cette échelle est la concentration de la clientèle entre 25 et 41 ans.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Personne 2 construit une ligne par client à partir de cinq variables comportementales : âge, dépense totale, nombre d'achats, panier moyen et nombre de catégories distinctes. Ces variables sont standardisées avant clustering, car l'âge et la dépense évoluent sur des échelles très différentes et K-means repose sur des distances. Une analyse en composantes principales à deux dimensions explique 95,5 % de la variance. Trois clusters ont été retenus : le score de silhouette favorise techniquement deux groupes, mais trois laissent davantage de matière au travail de personas. Point important à défendre : K-means et la classification hiérarchique convergent parfaitement, ce qui appuie la stabilité du découpage.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Personne 3 traduit les clusters numérotés en personas compréhensibles par une équipe marketing. Jules représente la moitié de la base : la dépense totale la plus élevée, mais tirée par un achat unique important plutôt que par des achats répétés. Emma étudiante est le segment le plus jeune, à la dépense la plus faible, mais avec le panier moyen le plus élevé — un achat unique et réfléchi. Emma en ligne est le segment le plus engagé : le seul à présenter des achats répétés et le seul à privilégier le canal en ligne. C'est le constat clé de cette diapositive : un seul segment sur trois revient acheter.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module est indépendant du reste de la chaîne : il ne mobilise que le fichier des campagnes. Cinq campagnes sont évaluées sur cinq canaux avec les formules standards. Le canal Online domine largement avec 650 % de ROI et le coût par acquisition le plus faible, 6,67 €. À l'opposé, le canal In-Store plafonne à 233 %. Point à défendre à l'oral : le ROI repose sur une hypothèse de 50 € de revenu par conversion, car les données sources ne contiennent aucun revenu par conversion. C'est un paramètre unique, explicitement documenté et facilement actualisable dès qu'un panier moyen réel sera disponible.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croisement le plus important de tout le projet, et celui qu'il faut retenir. Trois quarts de la base client — les segments Jules et Emma étudiante — privilégient le canal en magasin. Or c'est précisément le canal qui affiche le plus faible retour sur investissement, 233 %. Le canal en ligne, lui, rapporte 650 %, soit près de trois fois plus, et c'est celui qu'utilise le segment le plus rentable. Aucune des deux analyses prises isolément ne révèle cette tension : ni la fiche persona, ni le tableau des indicateurs de campagne. C'est le croisement qui la fait apparaître, et c'est l'enjeu stratégique majeur du projet.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Personne 5 apporte la brique prédictive. Première difficulté : aucune colonne churn n'existe dans les données, la cible a dû être construite. La règle retenue est adaptative — un client est considéré comme perdu si sa récence dépasse le 75e percentile observé — plutôt qu'un nombre de jours fixe choisi arbitrairement. Trois modèles sont comparés, avec une séparation train/test effectuée avant tout prétraitement pour éviter toute fuite de données. La métrique prioritaire est le rappel, car un client perdu faute d'intervention représente un revenu définitivement perdu, alors qu'une fausse alerte ne coûte qu'une sollicitation mal ciblée. Point méthodologique à souligner : la récence elle-même est exclue des variables explicatives, puisqu'elle définit la cible.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résultat le plus parlant du modèle, et une bonne illustration de l'intérêt de croiser les analyses. Un client affiche une probabilité de départ de 86,8 %, la plus élevée de tout le portefeuille. Or ce même client est totalement absent du fichier de segmentation : il n'appartient à aucun cluster, donc aucune action marketing construite par segment ne l'aurait jamais touché. La segmentation seule ne le voit pas. Le modèle seul le signale mais sans contexte. C'est le rapprochement des deux qui transforme une anomalie technique en action commerciale urgente : contacter ce client indépendamment de toute logique de segment, et corriger le défaut de couverture à la source.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Personne 6 croise pour chaque segment son canal préféré, la rentabilité réelle de ce canal, et son risque de départ. Quatre priorités en ressortent. Jules, priorité haute : c'est le plus gros segment en volume et en valeur, mais il est sur le canal le moins rentable, avec un risque de départ qui monte. Emma en ligne, priorité d'investissement : c'est le segment sain, sur le canal le plus rentable, avec le churn le plus faible — c'est le modèle à répliquer. Emma étudiante, simple surveillance : faible valeur mais churn stable, pas d'urgence. Enfin le client non classé, en urgence absolue. Chaque action est assortie d'un objectif mesurable à trois mois dans le rapport écrit.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tableau de bord rassemble l'ensemble du travail des six intervenants dans une application Streamlit unique, organisée en cinq onglets. La vue d'ensemble donne les indicateurs globaux. L'onglet Segments affiche les clusters de façon interactive avec la fiche persona correspondante. L'onglet Campagnes permet de trier et comparer les canaux. L'onglet Churn liste les clients les plus à risque et montre les variables les plus influentes du modèle. L'onglet Stratégie reprend le plan d'action par segment. L'application gère proprement les fichiers manquants : elle les signale sans s'interrompre. Elle est déployée sur un nom de domaine personnalisé, ce qui permet une démonstration en direct pendant la soutenance.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diapositive est volontairement mise en avant plutôt que reléguée en fin de présentation. L'échantillon fourni est un jeu pédagogique réduit : cinq clients, cinq produits, cinq ventes, cinq campagnes. Cela signifie que tous les pourcentages et moyennes présentés sont illustratifs et non généralisables — un score de silhouette ou un AUC n'a pas de sens statistique sur quatre clients. En revanche, ce qui est prouvé, c'est que la chaîne complète fonctionne de bout en bout : séparation sans fuite de données, trois modèles entraînés, évaluation, export des livrables. Chaque membre de l'équipe est arrivé indépendamment à cette même réserve. Passer à l'échelle ne demande aucun changement de méthodologie, seulement du volume.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recommandations prioritaires, classées par rapport effort-impact. Premièrement, relancer la chaîne complète sur le jeu de données réel dès qu'il sera disponible : effort faible, impact très élevé, puisqu'aucun changement de méthodologie n'est nécessaire. Deuxièmement, réallouer environ 500 € du canal magasin vers le canal en ligne, ce qui représenterait environ 42 conversions supplémentaires au coût d'acquisition observé. Troisièmement, contacter dès aujourd'hui le client à 86,8 % de risque, qui n'est actuellement suivi par aucune action. Quatrièmement, corriger le défaut de couverture de la segmentation pour qu'aucun client ne reste hors de tout segment. Le rapport écrit ajoute une cinquième recommandation sur la validation de l'hypothèse de revenu par conversion.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Ce projet démontre une chaîne complète et fonctionnelle, depuis les données transactionnelles brutes jusqu'à un outil de stratégie interactif. Ce qui fait tenir l'ensemble, ce n'est pas un modèle en particulier, mais le contrat de données partagé qui a permis à six personnes de travailler en parallèle et d'assembler leurs livrables sans friction. Chaque choix méthodologique structurant a été documenté pour pouvoir être défendu : la définition du churn, le nombre de clusters, l'hypothèse de revenu par conversion, la métrique prioritaire. Les perspectives immédiates sont le passage à l'échelle, l'ajout d'indicateurs RFM complets, et à terme le remplacement de la classification du churn par une prédiction de valeur client. Merci de votre attention.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4"/>
        </a:solidFill>
        <a:effectLst/>
      </p:bgPr>
    </p:bg>
    <p:spTree>
      <p:nvGrpSpPr>
        <p:cNvPr id="1" name=""/>
        <p:cNvGrpSpPr/>
        <p:nvPr/>
      </p:nvGrpSpPr>
      <p:grpSpPr>
        <a:xfrm>
          <a:off x="0" y="0"/>
          <a:ext cx="0" cy="0"/>
          <a:chOff x="0" y="0"/>
          <a:chExt cx="0" cy="0"/>
        </a:xfrm>
      </p:grpSpPr>
      <p:sp>
        <p:nvSpPr>
          <p:cNvPr id="2" name="Text 0"/>
          <p:cNvSpPr txBox="1"/>
          <p:nvPr/>
        </p:nvSpPr>
        <p:spPr>
          <a:xfrm>
            <a:off x="822960" y="1417320"/>
            <a:ext cx="10515600" cy="274320"/>
          </a:xfrm>
          <a:prstGeom prst="rect">
            <a:avLst/>
          </a:prstGeom>
          <a:noFill/>
          <a:ln/>
        </p:spPr>
        <p:txBody>
          <a:bodyPr wrap="square" lIns="0" tIns="0" rIns="0" bIns="0" rtlCol="0" anchor="ctr"/>
          <a:lstStyle/>
          <a:p>
            <a:pPr marL="0" indent="0">
              <a:buNone/>
            </a:pPr>
            <a:r>
              <a:rPr lang="en-US" sz="1200" b="1" kern="0" spc="260" dirty="0">
                <a:solidFill>
                  <a:srgbClr val="8FB8AE"/>
                </a:solidFill>
                <a:latin typeface="Calibri" pitchFamily="34" charset="0"/>
                <a:ea typeface="Calibri" pitchFamily="34" charset="-122"/>
                <a:cs typeface="Calibri" pitchFamily="34" charset="-120"/>
              </a:rPr>
              <a:t>PROJET STRATEGIE MARKETING DIGITAL</a:t>
            </a:r>
            <a:endParaRPr lang="en-US" sz="1200" dirty="0"/>
          </a:p>
        </p:txBody>
      </p:sp>
      <p:sp>
        <p:nvSpPr>
          <p:cNvPr id="3" name="Text 1"/>
          <p:cNvSpPr txBox="1"/>
          <p:nvPr/>
        </p:nvSpPr>
        <p:spPr>
          <a:xfrm>
            <a:off x="822960" y="2057400"/>
            <a:ext cx="9692640" cy="2286000"/>
          </a:xfrm>
          <a:prstGeom prst="rect">
            <a:avLst/>
          </a:prstGeom>
          <a:noFill/>
          <a:ln/>
        </p:spPr>
        <p:txBody>
          <a:bodyPr wrap="square" lIns="0" tIns="0" rIns="0" bIns="0" rtlCol="0" anchor="t"/>
          <a:lstStyle/>
          <a:p>
            <a:pPr marL="0" indent="0">
              <a:lnSpc>
                <a:spcPts val="4800"/>
              </a:lnSpc>
              <a:buNone/>
            </a:pPr>
            <a:r>
              <a:rPr lang="en-US" sz="4000" b="1" dirty="0">
                <a:solidFill>
                  <a:srgbClr val="FFFFFF"/>
                </a:solidFill>
                <a:latin typeface="Cambria" pitchFamily="34" charset="0"/>
                <a:ea typeface="Cambria" pitchFamily="34" charset="-122"/>
                <a:cs typeface="Cambria" pitchFamily="34" charset="-120"/>
              </a:rPr>
              <a:t>ANALYSE ET OPTIMISATION MARKETING BASÉE SUR LA SEGMENTATION CLIENT</a:t>
            </a:r>
            <a:endParaRPr lang="en-US" sz="4000" dirty="0"/>
          </a:p>
        </p:txBody>
      </p:sp>
      <p:sp>
        <p:nvSpPr>
          <p:cNvPr id="4" name="Text 2"/>
          <p:cNvSpPr txBox="1"/>
          <p:nvPr/>
        </p:nvSpPr>
        <p:spPr>
          <a:xfrm>
            <a:off x="822960" y="4526280"/>
            <a:ext cx="8686800" cy="411480"/>
          </a:xfrm>
          <a:prstGeom prst="rect">
            <a:avLst/>
          </a:prstGeom>
          <a:noFill/>
          <a:ln/>
        </p:spPr>
        <p:txBody>
          <a:bodyPr wrap="square" lIns="0" tIns="0" rIns="0" bIns="0" rtlCol="0" anchor="ctr"/>
          <a:lstStyle/>
          <a:p>
            <a:pPr marL="0" indent="0">
              <a:buNone/>
            </a:pPr>
            <a:r>
              <a:rPr lang="en-US" sz="1500" dirty="0">
                <a:solidFill>
                  <a:srgbClr val="C9D4D1"/>
                </a:solidFill>
                <a:latin typeface="Calibri" pitchFamily="34" charset="0"/>
                <a:ea typeface="Calibri" pitchFamily="34" charset="-122"/>
                <a:cs typeface="Calibri" pitchFamily="34" charset="-120"/>
              </a:rPr>
              <a:t>Des données brutes à une stratégie marketing digitale personnalisée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822960" y="566928"/>
            <a:ext cx="10515600" cy="274320"/>
          </a:xfrm>
          <a:prstGeom prst="rect">
            <a:avLst/>
          </a:prstGeom>
          <a:noFill/>
          <a:ln/>
        </p:spPr>
        <p:txBody>
          <a:bodyPr wrap="square" lIns="0" tIns="0" rIns="0" bIns="0" rtlCol="0" anchor="ctr"/>
          <a:lstStyle/>
          <a:p>
            <a:pPr marL="0" indent="0">
              <a:buNone/>
            </a:pPr>
            <a:r>
              <a:rPr lang="en-US" sz="1100" b="1" kern="0" spc="240" dirty="0">
                <a:solidFill>
                  <a:srgbClr val="1B5E55"/>
                </a:solidFill>
                <a:latin typeface="Calibri" pitchFamily="34" charset="0"/>
                <a:ea typeface="Calibri" pitchFamily="34" charset="-122"/>
                <a:cs typeface="Calibri" pitchFamily="34" charset="-120"/>
              </a:rPr>
              <a:t>INTRODUCTION</a:t>
            </a:r>
            <a:endParaRPr lang="en-US" sz="1100" dirty="0"/>
          </a:p>
        </p:txBody>
      </p:sp>
      <p:sp>
        <p:nvSpPr>
          <p:cNvPr id="3" name="Text 1"/>
          <p:cNvSpPr txBox="1"/>
          <p:nvPr/>
        </p:nvSpPr>
        <p:spPr>
          <a:xfrm>
            <a:off x="822960" y="914400"/>
            <a:ext cx="10515600" cy="1554480"/>
          </a:xfrm>
          <a:prstGeom prst="rect">
            <a:avLst/>
          </a:prstGeom>
          <a:noFill/>
          <a:ln/>
        </p:spPr>
        <p:txBody>
          <a:bodyPr wrap="square" lIns="0" tIns="0" rIns="0" bIns="0" rtlCol="0" anchor="t"/>
          <a:lstStyle/>
          <a:p>
            <a:pPr marL="0" indent="0">
              <a:lnSpc>
                <a:spcPts val="4000"/>
              </a:lnSpc>
              <a:buNone/>
            </a:pPr>
            <a:r>
              <a:rPr lang="en-US" sz="3400" b="1" dirty="0">
                <a:solidFill>
                  <a:srgbClr val="1F2A44"/>
                </a:solidFill>
                <a:latin typeface="Cambria" pitchFamily="34" charset="0"/>
                <a:ea typeface="Cambria" pitchFamily="34" charset="-122"/>
                <a:cs typeface="Cambria" pitchFamily="34" charset="-120"/>
              </a:rPr>
              <a:t>Le marketing générique</a:t>
            </a:r>
            <a:endParaRPr lang="en-US" sz="3400" dirty="0"/>
          </a:p>
          <a:p>
            <a:pPr marL="0" indent="0">
              <a:lnSpc>
                <a:spcPts val="4000"/>
              </a:lnSpc>
              <a:buNone/>
            </a:pPr>
            <a:r>
              <a:rPr lang="en-US" sz="3400" b="1" dirty="0">
                <a:solidFill>
                  <a:srgbClr val="1F2A44"/>
                </a:solidFill>
                <a:latin typeface="Cambria" pitchFamily="34" charset="0"/>
                <a:ea typeface="Cambria" pitchFamily="34" charset="-122"/>
                <a:cs typeface="Cambria" pitchFamily="34" charset="-120"/>
              </a:rPr>
              <a:t>dépense au mauvais endroit</a:t>
            </a:r>
            <a:endParaRPr lang="en-US" sz="3400" dirty="0"/>
          </a:p>
        </p:txBody>
      </p:sp>
      <p:sp>
        <p:nvSpPr>
          <p:cNvPr id="4" name="Text 2"/>
          <p:cNvSpPr txBox="1"/>
          <p:nvPr/>
        </p:nvSpPr>
        <p:spPr>
          <a:xfrm>
            <a:off x="822960" y="2788920"/>
            <a:ext cx="5577840" cy="1371600"/>
          </a:xfrm>
          <a:prstGeom prst="rect">
            <a:avLst/>
          </a:prstGeom>
          <a:noFill/>
          <a:ln/>
        </p:spPr>
        <p:txBody>
          <a:bodyPr wrap="square" lIns="0" tIns="0" rIns="0" bIns="0" rtlCol="0" anchor="t"/>
          <a:lstStyle/>
          <a:p>
            <a:pPr marL="0" indent="0">
              <a:lnSpc>
                <a:spcPts val="2200"/>
              </a:lnSpc>
              <a:buNone/>
            </a:pPr>
            <a:r>
              <a:rPr lang="en-US" sz="1450" dirty="0">
                <a:solidFill>
                  <a:srgbClr val="1F2A44"/>
                </a:solidFill>
                <a:latin typeface="Calibri" pitchFamily="34" charset="0"/>
                <a:ea typeface="Calibri" pitchFamily="34" charset="-122"/>
                <a:cs typeface="Calibri" pitchFamily="34" charset="-120"/>
              </a:rPr>
              <a:t>Les entreprises ne se différencient plus par les produits qu'elles vendent, mais par leur capacité à adresser le bon message, sur le bon canal, au bon client.</a:t>
            </a:r>
            <a:endParaRPr lang="en-US" sz="1450" dirty="0"/>
          </a:p>
        </p:txBody>
      </p:sp>
      <p:sp>
        <p:nvSpPr>
          <p:cNvPr id="5" name="Text 3"/>
          <p:cNvSpPr txBox="1"/>
          <p:nvPr/>
        </p:nvSpPr>
        <p:spPr>
          <a:xfrm>
            <a:off x="822960" y="4251960"/>
            <a:ext cx="5577840" cy="1005840"/>
          </a:xfrm>
          <a:prstGeom prst="rect">
            <a:avLst/>
          </a:prstGeom>
          <a:noFill/>
          <a:ln/>
        </p:spPr>
        <p:txBody>
          <a:bodyPr wrap="square" lIns="0" tIns="0" rIns="0" bIns="0" rtlCol="0" anchor="t"/>
          <a:lstStyle/>
          <a:p>
            <a:pPr marL="0" indent="0">
              <a:lnSpc>
                <a:spcPts val="2200"/>
              </a:lnSpc>
              <a:buNone/>
            </a:pPr>
            <a:r>
              <a:rPr lang="en-US" sz="1450" i="1" dirty="0">
                <a:solidFill>
                  <a:srgbClr val="1B5E55"/>
                </a:solidFill>
                <a:latin typeface="Calibri" pitchFamily="34" charset="0"/>
                <a:ea typeface="Calibri" pitchFamily="34" charset="-122"/>
                <a:cs typeface="Calibri" pitchFamily="34" charset="-120"/>
              </a:rPr>
              <a:t>La réponse est déjà contenue dans les données. Encore faut-il la chaîne de traitement pour l'en extraire.</a:t>
            </a:r>
            <a:endParaRPr lang="en-US" sz="1450" dirty="0"/>
          </a:p>
        </p:txBody>
      </p:sp>
      <p:sp>
        <p:nvSpPr>
          <p:cNvPr id="6" name="Text 4"/>
          <p:cNvSpPr txBox="1"/>
          <p:nvPr/>
        </p:nvSpPr>
        <p:spPr>
          <a:xfrm>
            <a:off x="7223760" y="2286000"/>
            <a:ext cx="2011680" cy="777240"/>
          </a:xfrm>
          <a:prstGeom prst="rect">
            <a:avLst/>
          </a:prstGeom>
          <a:noFill/>
          <a:ln/>
        </p:spPr>
        <p:txBody>
          <a:bodyPr wrap="square" lIns="0" tIns="0" rIns="0" bIns="0" rtlCol="0" anchor="t"/>
          <a:lstStyle/>
          <a:p>
            <a:pPr marL="0" indent="0">
              <a:buNone/>
            </a:pPr>
            <a:r>
              <a:rPr lang="en-US" sz="5000" b="1" dirty="0">
                <a:solidFill>
                  <a:srgbClr val="1F2A44"/>
                </a:solidFill>
                <a:latin typeface="Cambria" pitchFamily="34" charset="0"/>
                <a:ea typeface="Cambria" pitchFamily="34" charset="-122"/>
                <a:cs typeface="Cambria" pitchFamily="34" charset="-120"/>
              </a:rPr>
              <a:t>4</a:t>
            </a:r>
            <a:endParaRPr lang="en-US" sz="5000" dirty="0"/>
          </a:p>
        </p:txBody>
      </p:sp>
      <p:sp>
        <p:nvSpPr>
          <p:cNvPr id="7" name="Text 5"/>
          <p:cNvSpPr txBox="1"/>
          <p:nvPr/>
        </p:nvSpPr>
        <p:spPr>
          <a:xfrm>
            <a:off x="7223760" y="3127248"/>
            <a:ext cx="2011680" cy="685800"/>
          </a:xfrm>
          <a:prstGeom prst="rect">
            <a:avLst/>
          </a:prstGeom>
          <a:noFill/>
          <a:ln/>
        </p:spPr>
        <p:txBody>
          <a:bodyPr wrap="square" lIns="0" tIns="0" rIns="0" bIns="0" rtlCol="0" anchor="t"/>
          <a:lstStyle/>
          <a:p>
            <a:pPr marL="0" indent="0">
              <a:lnSpc>
                <a:spcPts val="1600"/>
              </a:lnSpc>
              <a:buNone/>
            </a:pPr>
            <a:r>
              <a:rPr lang="en-US" sz="1200" dirty="0">
                <a:solidFill>
                  <a:srgbClr val="6B7280"/>
                </a:solidFill>
                <a:latin typeface="Calibri" pitchFamily="34" charset="0"/>
                <a:ea typeface="Calibri" pitchFamily="34" charset="-122"/>
                <a:cs typeface="Calibri" pitchFamily="34" charset="-120"/>
              </a:rPr>
              <a:t>fichiers de données</a:t>
            </a:r>
            <a:endParaRPr lang="en-US" sz="1200" dirty="0"/>
          </a:p>
          <a:p>
            <a:pPr marL="0" indent="0">
              <a:lnSpc>
                <a:spcPts val="1600"/>
              </a:lnSpc>
              <a:buNone/>
            </a:pPr>
            <a:r>
              <a:rPr lang="en-US" sz="1200" dirty="0">
                <a:solidFill>
                  <a:srgbClr val="6B7280"/>
                </a:solidFill>
                <a:latin typeface="Calibri" pitchFamily="34" charset="0"/>
                <a:ea typeface="Calibri" pitchFamily="34" charset="-122"/>
                <a:cs typeface="Calibri" pitchFamily="34" charset="-120"/>
              </a:rPr>
              <a:t>bruts en entrée</a:t>
            </a:r>
            <a:endParaRPr lang="en-US" sz="1200" dirty="0"/>
          </a:p>
        </p:txBody>
      </p:sp>
      <p:sp>
        <p:nvSpPr>
          <p:cNvPr id="8" name="Text 6"/>
          <p:cNvSpPr txBox="1"/>
          <p:nvPr/>
        </p:nvSpPr>
        <p:spPr>
          <a:xfrm>
            <a:off x="9509760" y="2286000"/>
            <a:ext cx="2011680" cy="777240"/>
          </a:xfrm>
          <a:prstGeom prst="rect">
            <a:avLst/>
          </a:prstGeom>
          <a:noFill/>
          <a:ln/>
        </p:spPr>
        <p:txBody>
          <a:bodyPr wrap="square" lIns="0" tIns="0" rIns="0" bIns="0" rtlCol="0" anchor="t"/>
          <a:lstStyle/>
          <a:p>
            <a:pPr marL="0" indent="0">
              <a:buNone/>
            </a:pPr>
            <a:r>
              <a:rPr lang="en-US" sz="5000" b="1" dirty="0">
                <a:solidFill>
                  <a:srgbClr val="1F2A44"/>
                </a:solidFill>
                <a:latin typeface="Cambria" pitchFamily="34" charset="0"/>
                <a:ea typeface="Cambria" pitchFamily="34" charset="-122"/>
                <a:cs typeface="Cambria" pitchFamily="34" charset="-120"/>
              </a:rPr>
              <a:t>9</a:t>
            </a:r>
            <a:endParaRPr lang="en-US" sz="5000" dirty="0"/>
          </a:p>
        </p:txBody>
      </p:sp>
      <p:sp>
        <p:nvSpPr>
          <p:cNvPr id="9" name="Text 7"/>
          <p:cNvSpPr txBox="1"/>
          <p:nvPr/>
        </p:nvSpPr>
        <p:spPr>
          <a:xfrm>
            <a:off x="9509760" y="3127248"/>
            <a:ext cx="2011680" cy="685800"/>
          </a:xfrm>
          <a:prstGeom prst="rect">
            <a:avLst/>
          </a:prstGeom>
          <a:noFill/>
          <a:ln/>
        </p:spPr>
        <p:txBody>
          <a:bodyPr wrap="square" lIns="0" tIns="0" rIns="0" bIns="0" rtlCol="0" anchor="t"/>
          <a:lstStyle/>
          <a:p>
            <a:pPr marL="0" indent="0">
              <a:lnSpc>
                <a:spcPts val="1600"/>
              </a:lnSpc>
              <a:buNone/>
            </a:pPr>
            <a:r>
              <a:rPr lang="en-US" sz="1200" dirty="0">
                <a:solidFill>
                  <a:srgbClr val="6B7280"/>
                </a:solidFill>
                <a:latin typeface="Calibri" pitchFamily="34" charset="0"/>
                <a:ea typeface="Calibri" pitchFamily="34" charset="-122"/>
                <a:cs typeface="Calibri" pitchFamily="34" charset="-120"/>
              </a:rPr>
              <a:t>modules</a:t>
            </a:r>
            <a:endParaRPr lang="en-US" sz="1200" dirty="0"/>
          </a:p>
          <a:p>
            <a:pPr marL="0" indent="0">
              <a:lnSpc>
                <a:spcPts val="1600"/>
              </a:lnSpc>
              <a:buNone/>
            </a:pPr>
            <a:r>
              <a:rPr lang="en-US" sz="1200" dirty="0">
                <a:solidFill>
                  <a:srgbClr val="6B7280"/>
                </a:solidFill>
                <a:latin typeface="Calibri" pitchFamily="34" charset="0"/>
                <a:ea typeface="Calibri" pitchFamily="34" charset="-122"/>
                <a:cs typeface="Calibri" pitchFamily="34" charset="-120"/>
              </a:rPr>
              <a:t>pédagogiques</a:t>
            </a:r>
            <a:endParaRPr lang="en-US" sz="1200" dirty="0"/>
          </a:p>
        </p:txBody>
      </p:sp>
      <p:sp>
        <p:nvSpPr>
          <p:cNvPr id="10" name="Text 8"/>
          <p:cNvSpPr txBox="1"/>
          <p:nvPr/>
        </p:nvSpPr>
        <p:spPr>
          <a:xfrm>
            <a:off x="7223760" y="4160520"/>
            <a:ext cx="2011680" cy="777240"/>
          </a:xfrm>
          <a:prstGeom prst="rect">
            <a:avLst/>
          </a:prstGeom>
          <a:noFill/>
          <a:ln/>
        </p:spPr>
        <p:txBody>
          <a:bodyPr wrap="square" lIns="0" tIns="0" rIns="0" bIns="0" rtlCol="0" anchor="t"/>
          <a:lstStyle/>
          <a:p>
            <a:pPr marL="0" indent="0">
              <a:buNone/>
            </a:pPr>
            <a:r>
              <a:rPr lang="en-US" sz="5000" b="1" dirty="0">
                <a:solidFill>
                  <a:srgbClr val="1B5E55"/>
                </a:solidFill>
                <a:latin typeface="Cambria" pitchFamily="34" charset="0"/>
                <a:ea typeface="Cambria" pitchFamily="34" charset="-122"/>
                <a:cs typeface="Cambria" pitchFamily="34" charset="-120"/>
              </a:rPr>
              <a:t>6</a:t>
            </a:r>
            <a:endParaRPr lang="en-US" sz="5000" dirty="0"/>
          </a:p>
        </p:txBody>
      </p:sp>
      <p:sp>
        <p:nvSpPr>
          <p:cNvPr id="11" name="Text 9"/>
          <p:cNvSpPr txBox="1"/>
          <p:nvPr/>
        </p:nvSpPr>
        <p:spPr>
          <a:xfrm>
            <a:off x="7223760" y="5001768"/>
            <a:ext cx="2011680" cy="685800"/>
          </a:xfrm>
          <a:prstGeom prst="rect">
            <a:avLst/>
          </a:prstGeom>
          <a:noFill/>
          <a:ln/>
        </p:spPr>
        <p:txBody>
          <a:bodyPr wrap="square" lIns="0" tIns="0" rIns="0" bIns="0" rtlCol="0" anchor="t"/>
          <a:lstStyle/>
          <a:p>
            <a:pPr marL="0" indent="0">
              <a:lnSpc>
                <a:spcPts val="1600"/>
              </a:lnSpc>
              <a:buNone/>
            </a:pPr>
            <a:r>
              <a:rPr lang="en-US" sz="1200" dirty="0">
                <a:solidFill>
                  <a:srgbClr val="6B7280"/>
                </a:solidFill>
                <a:latin typeface="Calibri" pitchFamily="34" charset="0"/>
                <a:ea typeface="Calibri" pitchFamily="34" charset="-122"/>
                <a:cs typeface="Calibri" pitchFamily="34" charset="-120"/>
              </a:rPr>
              <a:t>intervenants</a:t>
            </a:r>
            <a:endParaRPr lang="en-US" sz="1200" dirty="0"/>
          </a:p>
          <a:p>
            <a:pPr marL="0" indent="0">
              <a:lnSpc>
                <a:spcPts val="1600"/>
              </a:lnSpc>
              <a:buNone/>
            </a:pPr>
            <a:r>
              <a:rPr lang="en-US" sz="1200" dirty="0">
                <a:solidFill>
                  <a:srgbClr val="6B7280"/>
                </a:solidFill>
                <a:latin typeface="Calibri" pitchFamily="34" charset="0"/>
                <a:ea typeface="Calibri" pitchFamily="34" charset="-122"/>
                <a:cs typeface="Calibri" pitchFamily="34" charset="-120"/>
              </a:rPr>
              <a:t>en chaîne</a:t>
            </a:r>
            <a:endParaRPr lang="en-US" sz="1200" dirty="0"/>
          </a:p>
        </p:txBody>
      </p:sp>
      <p:sp>
        <p:nvSpPr>
          <p:cNvPr id="12" name="Text 10"/>
          <p:cNvSpPr txBox="1"/>
          <p:nvPr/>
        </p:nvSpPr>
        <p:spPr>
          <a:xfrm>
            <a:off x="9509760" y="4160520"/>
            <a:ext cx="2011680" cy="777240"/>
          </a:xfrm>
          <a:prstGeom prst="rect">
            <a:avLst/>
          </a:prstGeom>
          <a:noFill/>
          <a:ln/>
        </p:spPr>
        <p:txBody>
          <a:bodyPr wrap="square" lIns="0" tIns="0" rIns="0" bIns="0" rtlCol="0" anchor="t"/>
          <a:lstStyle/>
          <a:p>
            <a:pPr marL="0" indent="0">
              <a:buNone/>
            </a:pPr>
            <a:r>
              <a:rPr lang="en-US" sz="5000" b="1" dirty="0">
                <a:solidFill>
                  <a:srgbClr val="1B5E55"/>
                </a:solidFill>
                <a:latin typeface="Cambria" pitchFamily="34" charset="0"/>
                <a:ea typeface="Cambria" pitchFamily="34" charset="-122"/>
                <a:cs typeface="Cambria" pitchFamily="34" charset="-120"/>
              </a:rPr>
              <a:t>1</a:t>
            </a:r>
            <a:endParaRPr lang="en-US" sz="5000" dirty="0"/>
          </a:p>
        </p:txBody>
      </p:sp>
      <p:sp>
        <p:nvSpPr>
          <p:cNvPr id="13" name="Text 11"/>
          <p:cNvSpPr txBox="1"/>
          <p:nvPr/>
        </p:nvSpPr>
        <p:spPr>
          <a:xfrm>
            <a:off x="9509760" y="5001768"/>
            <a:ext cx="2011680" cy="685800"/>
          </a:xfrm>
          <a:prstGeom prst="rect">
            <a:avLst/>
          </a:prstGeom>
          <a:noFill/>
          <a:ln/>
        </p:spPr>
        <p:txBody>
          <a:bodyPr wrap="square" lIns="0" tIns="0" rIns="0" bIns="0" rtlCol="0" anchor="t"/>
          <a:lstStyle/>
          <a:p>
            <a:pPr marL="0" indent="0">
              <a:lnSpc>
                <a:spcPts val="1600"/>
              </a:lnSpc>
              <a:buNone/>
            </a:pPr>
            <a:r>
              <a:rPr lang="en-US" sz="1200" dirty="0">
                <a:solidFill>
                  <a:srgbClr val="6B7280"/>
                </a:solidFill>
                <a:latin typeface="Calibri" pitchFamily="34" charset="0"/>
                <a:ea typeface="Calibri" pitchFamily="34" charset="-122"/>
                <a:cs typeface="Calibri" pitchFamily="34" charset="-120"/>
              </a:rPr>
              <a:t>stratégie</a:t>
            </a:r>
            <a:endParaRPr lang="en-US" sz="1200" dirty="0"/>
          </a:p>
          <a:p>
            <a:pPr marL="0" indent="0">
              <a:lnSpc>
                <a:spcPts val="1600"/>
              </a:lnSpc>
              <a:buNone/>
            </a:pPr>
            <a:r>
              <a:rPr lang="en-US" sz="1200" dirty="0">
                <a:solidFill>
                  <a:srgbClr val="6B7280"/>
                </a:solidFill>
                <a:latin typeface="Calibri" pitchFamily="34" charset="0"/>
                <a:ea typeface="Calibri" pitchFamily="34" charset="-122"/>
                <a:cs typeface="Calibri" pitchFamily="34" charset="-120"/>
              </a:rPr>
              <a:t>actionnable</a:t>
            </a:r>
            <a:endParaRPr lang="en-US" sz="1200" dirty="0"/>
          </a:p>
        </p:txBody>
      </p:sp>
      <p:sp>
        <p:nvSpPr>
          <p:cNvPr id="14" name="Text 12"/>
          <p:cNvSpPr txBox="1"/>
          <p:nvPr/>
        </p:nvSpPr>
        <p:spPr>
          <a:xfrm>
            <a:off x="10789920" y="626364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822960" y="566928"/>
            <a:ext cx="10515600" cy="274320"/>
          </a:xfrm>
          <a:prstGeom prst="rect">
            <a:avLst/>
          </a:prstGeom>
          <a:noFill/>
          <a:ln/>
        </p:spPr>
        <p:txBody>
          <a:bodyPr wrap="square" lIns="0" tIns="0" rIns="0" bIns="0" rtlCol="0" anchor="ctr"/>
          <a:lstStyle/>
          <a:p>
            <a:pPr marL="0" indent="0">
              <a:buNone/>
            </a:pPr>
            <a:r>
              <a:rPr lang="en-US" sz="1100" b="1" kern="0" spc="240" dirty="0">
                <a:solidFill>
                  <a:srgbClr val="1B5E55"/>
                </a:solidFill>
                <a:latin typeface="Calibri" pitchFamily="34" charset="0"/>
                <a:ea typeface="Calibri" pitchFamily="34" charset="-122"/>
                <a:cs typeface="Calibri" pitchFamily="34" charset="-120"/>
              </a:rPr>
              <a:t>MÉTHODOLOGIE</a:t>
            </a:r>
            <a:endParaRPr lang="en-US" sz="1100" dirty="0"/>
          </a:p>
        </p:txBody>
      </p:sp>
      <p:sp>
        <p:nvSpPr>
          <p:cNvPr id="3" name="Text 1"/>
          <p:cNvSpPr txBox="1"/>
          <p:nvPr/>
        </p:nvSpPr>
        <p:spPr>
          <a:xfrm>
            <a:off x="822960" y="914400"/>
            <a:ext cx="10515600" cy="868680"/>
          </a:xfrm>
          <a:prstGeom prst="rect">
            <a:avLst/>
          </a:prstGeom>
          <a:noFill/>
          <a:ln/>
        </p:spPr>
        <p:txBody>
          <a:bodyPr wrap="square" lIns="0" tIns="0" rIns="0" bIns="0" rtlCol="0" anchor="t"/>
          <a:lstStyle/>
          <a:p>
            <a:pPr marL="0" indent="0">
              <a:lnSpc>
                <a:spcPts val="4000"/>
              </a:lnSpc>
              <a:buNone/>
            </a:pPr>
            <a:r>
              <a:rPr lang="en-US" sz="3400" b="1" dirty="0">
                <a:solidFill>
                  <a:srgbClr val="1F2A44"/>
                </a:solidFill>
                <a:latin typeface="Cambria" pitchFamily="34" charset="0"/>
                <a:ea typeface="Cambria" pitchFamily="34" charset="-122"/>
                <a:cs typeface="Cambria" pitchFamily="34" charset="-120"/>
              </a:rPr>
              <a:t>Une chaîne, six maillons</a:t>
            </a:r>
            <a:endParaRPr lang="en-US" sz="3400" dirty="0"/>
          </a:p>
        </p:txBody>
      </p:sp>
      <p:sp>
        <p:nvSpPr>
          <p:cNvPr id="4" name="Text 2"/>
          <p:cNvSpPr txBox="1"/>
          <p:nvPr/>
        </p:nvSpPr>
        <p:spPr>
          <a:xfrm>
            <a:off x="822960" y="1828800"/>
            <a:ext cx="8778240" cy="548640"/>
          </a:xfrm>
          <a:prstGeom prst="rect">
            <a:avLst/>
          </a:prstGeom>
          <a:noFill/>
          <a:ln/>
        </p:spPr>
        <p:txBody>
          <a:bodyPr wrap="square" lIns="0" tIns="0" rIns="0" bIns="0" rtlCol="0" anchor="t"/>
          <a:lstStyle/>
          <a:p>
            <a:pPr marL="0" indent="0">
              <a:lnSpc>
                <a:spcPts val="1800"/>
              </a:lnSpc>
              <a:buNone/>
            </a:pPr>
            <a:r>
              <a:rPr lang="en-US" sz="1300" dirty="0">
                <a:solidFill>
                  <a:srgbClr val="6B7280"/>
                </a:solidFill>
                <a:latin typeface="Calibri" pitchFamily="34" charset="0"/>
                <a:ea typeface="Calibri" pitchFamily="34" charset="-122"/>
                <a:cs typeface="Calibri" pitchFamily="34" charset="-120"/>
              </a:rPr>
              <a:t>Chaque personne produit un livrable normalisé — un contrat de données — que la suivante consomme sans retraitement.</a:t>
            </a:r>
            <a:endParaRPr lang="en-US" sz="1300" dirty="0"/>
          </a:p>
        </p:txBody>
      </p:sp>
      <p:sp>
        <p:nvSpPr>
          <p:cNvPr id="5" name="Shape 3"/>
          <p:cNvSpPr/>
          <p:nvPr/>
        </p:nvSpPr>
        <p:spPr>
          <a:xfrm>
            <a:off x="822960" y="2834640"/>
            <a:ext cx="384048" cy="384048"/>
          </a:xfrm>
          <a:prstGeom prst="ellipse">
            <a:avLst/>
          </a:prstGeom>
          <a:solidFill>
            <a:srgbClr val="1B5E55"/>
          </a:solidFill>
          <a:ln/>
        </p:spPr>
      </p:sp>
      <p:sp>
        <p:nvSpPr>
          <p:cNvPr id="6" name="Text 4"/>
          <p:cNvSpPr txBox="1"/>
          <p:nvPr/>
        </p:nvSpPr>
        <p:spPr>
          <a:xfrm>
            <a:off x="822960" y="2875788"/>
            <a:ext cx="384048"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822960" y="3383280"/>
            <a:ext cx="1572768" cy="566928"/>
          </a:xfrm>
          <a:prstGeom prst="rect">
            <a:avLst/>
          </a:prstGeom>
          <a:noFill/>
          <a:ln/>
        </p:spPr>
        <p:txBody>
          <a:bodyPr wrap="square" lIns="0" tIns="0" rIns="0" bIns="0" rtlCol="0" anchor="t"/>
          <a:lstStyle/>
          <a:p>
            <a:pPr marL="0" indent="0">
              <a:lnSpc>
                <a:spcPts val="1600"/>
              </a:lnSpc>
              <a:buNone/>
            </a:pPr>
            <a:r>
              <a:rPr lang="en-US" sz="1300" b="1" dirty="0">
                <a:solidFill>
                  <a:srgbClr val="1F2A44"/>
                </a:solidFill>
                <a:latin typeface="Calibri" pitchFamily="34" charset="0"/>
                <a:ea typeface="Calibri" pitchFamily="34" charset="-122"/>
                <a:cs typeface="Calibri" pitchFamily="34" charset="-120"/>
              </a:rPr>
              <a:t>Nettoyage</a:t>
            </a:r>
            <a:endParaRPr lang="en-US" sz="1300" dirty="0"/>
          </a:p>
        </p:txBody>
      </p:sp>
      <p:sp>
        <p:nvSpPr>
          <p:cNvPr id="8" name="Text 6"/>
          <p:cNvSpPr txBox="1"/>
          <p:nvPr/>
        </p:nvSpPr>
        <p:spPr>
          <a:xfrm>
            <a:off x="822960" y="3950208"/>
            <a:ext cx="1572768" cy="548640"/>
          </a:xfrm>
          <a:prstGeom prst="rect">
            <a:avLst/>
          </a:prstGeom>
          <a:noFill/>
          <a:ln/>
        </p:spPr>
        <p:txBody>
          <a:bodyPr wrap="square" lIns="0" tIns="0" rIns="0" bIns="0" rtlCol="0" anchor="t"/>
          <a:lstStyle/>
          <a:p>
            <a:pPr marL="0" indent="0">
              <a:lnSpc>
                <a:spcPts val="1400"/>
              </a:lnSpc>
              <a:buNone/>
            </a:pPr>
            <a:r>
              <a:rPr lang="en-US" sz="1050" dirty="0">
                <a:solidFill>
                  <a:srgbClr val="6B7280"/>
                </a:solidFill>
                <a:latin typeface="Calibri" pitchFamily="34" charset="0"/>
                <a:ea typeface="Calibri" pitchFamily="34" charset="-122"/>
                <a:cs typeface="Calibri" pitchFamily="34" charset="-120"/>
              </a:rPr>
              <a:t>Personne 1</a:t>
            </a:r>
            <a:endParaRPr lang="en-US" sz="1050" dirty="0"/>
          </a:p>
          <a:p>
            <a:pPr marL="0" indent="0">
              <a:lnSpc>
                <a:spcPts val="1400"/>
              </a:lnSpc>
              <a:buNone/>
            </a:pPr>
            <a:r>
              <a:rPr lang="en-US" sz="1050" dirty="0">
                <a:solidFill>
                  <a:srgbClr val="6B7280"/>
                </a:solidFill>
                <a:latin typeface="Calibri" pitchFamily="34" charset="0"/>
                <a:ea typeface="Calibri" pitchFamily="34" charset="-122"/>
                <a:cs typeface="Calibri" pitchFamily="34" charset="-120"/>
              </a:rPr>
              <a:t>M1 + M2</a:t>
            </a:r>
            <a:endParaRPr lang="en-US" sz="1050" dirty="0"/>
          </a:p>
        </p:txBody>
      </p:sp>
      <p:sp>
        <p:nvSpPr>
          <p:cNvPr id="9" name="Shape 7"/>
          <p:cNvSpPr/>
          <p:nvPr/>
        </p:nvSpPr>
        <p:spPr>
          <a:xfrm>
            <a:off x="1298448" y="3026664"/>
            <a:ext cx="1261872" cy="0"/>
          </a:xfrm>
          <a:prstGeom prst="line">
            <a:avLst/>
          </a:prstGeom>
          <a:noFill/>
          <a:ln w="19050">
            <a:solidFill>
              <a:srgbClr val="E8ECEF"/>
            </a:solidFill>
            <a:prstDash val="solid"/>
          </a:ln>
        </p:spPr>
      </p:sp>
      <p:sp>
        <p:nvSpPr>
          <p:cNvPr id="10" name="Shape 8"/>
          <p:cNvSpPr/>
          <p:nvPr/>
        </p:nvSpPr>
        <p:spPr>
          <a:xfrm>
            <a:off x="2651760" y="2834640"/>
            <a:ext cx="384048" cy="384048"/>
          </a:xfrm>
          <a:prstGeom prst="ellipse">
            <a:avLst/>
          </a:prstGeom>
          <a:solidFill>
            <a:srgbClr val="1B5E55"/>
          </a:solidFill>
          <a:ln/>
        </p:spPr>
      </p:sp>
      <p:sp>
        <p:nvSpPr>
          <p:cNvPr id="11" name="Text 9"/>
          <p:cNvSpPr txBox="1"/>
          <p:nvPr/>
        </p:nvSpPr>
        <p:spPr>
          <a:xfrm>
            <a:off x="2651760" y="2875788"/>
            <a:ext cx="384048"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2651760" y="3383280"/>
            <a:ext cx="1572768" cy="566928"/>
          </a:xfrm>
          <a:prstGeom prst="rect">
            <a:avLst/>
          </a:prstGeom>
          <a:noFill/>
          <a:ln/>
        </p:spPr>
        <p:txBody>
          <a:bodyPr wrap="square" lIns="0" tIns="0" rIns="0" bIns="0" rtlCol="0" anchor="t"/>
          <a:lstStyle/>
          <a:p>
            <a:pPr marL="0" indent="0">
              <a:lnSpc>
                <a:spcPts val="1600"/>
              </a:lnSpc>
              <a:buNone/>
            </a:pPr>
            <a:r>
              <a:rPr lang="en-US" sz="1300" b="1" dirty="0">
                <a:solidFill>
                  <a:srgbClr val="1F2A44"/>
                </a:solidFill>
                <a:latin typeface="Calibri" pitchFamily="34" charset="0"/>
                <a:ea typeface="Calibri" pitchFamily="34" charset="-122"/>
                <a:cs typeface="Calibri" pitchFamily="34" charset="-120"/>
              </a:rPr>
              <a:t>Segmentation</a:t>
            </a:r>
            <a:endParaRPr lang="en-US" sz="1300" dirty="0"/>
          </a:p>
        </p:txBody>
      </p:sp>
      <p:sp>
        <p:nvSpPr>
          <p:cNvPr id="13" name="Text 11"/>
          <p:cNvSpPr txBox="1"/>
          <p:nvPr/>
        </p:nvSpPr>
        <p:spPr>
          <a:xfrm>
            <a:off x="2651760" y="3950208"/>
            <a:ext cx="1572768" cy="548640"/>
          </a:xfrm>
          <a:prstGeom prst="rect">
            <a:avLst/>
          </a:prstGeom>
          <a:noFill/>
          <a:ln/>
        </p:spPr>
        <p:txBody>
          <a:bodyPr wrap="square" lIns="0" tIns="0" rIns="0" bIns="0" rtlCol="0" anchor="t"/>
          <a:lstStyle/>
          <a:p>
            <a:pPr marL="0" indent="0">
              <a:lnSpc>
                <a:spcPts val="1400"/>
              </a:lnSpc>
              <a:buNone/>
            </a:pPr>
            <a:r>
              <a:rPr lang="en-US" sz="1050" dirty="0">
                <a:solidFill>
                  <a:srgbClr val="6B7280"/>
                </a:solidFill>
                <a:latin typeface="Calibri" pitchFamily="34" charset="0"/>
                <a:ea typeface="Calibri" pitchFamily="34" charset="-122"/>
                <a:cs typeface="Calibri" pitchFamily="34" charset="-120"/>
              </a:rPr>
              <a:t>Personne 2</a:t>
            </a:r>
            <a:endParaRPr lang="en-US" sz="1050" dirty="0"/>
          </a:p>
          <a:p>
            <a:pPr marL="0" indent="0">
              <a:lnSpc>
                <a:spcPts val="1400"/>
              </a:lnSpc>
              <a:buNone/>
            </a:pPr>
            <a:r>
              <a:rPr lang="en-US" sz="1050" dirty="0">
                <a:solidFill>
                  <a:srgbClr val="6B7280"/>
                </a:solidFill>
                <a:latin typeface="Calibri" pitchFamily="34" charset="0"/>
                <a:ea typeface="Calibri" pitchFamily="34" charset="-122"/>
                <a:cs typeface="Calibri" pitchFamily="34" charset="-120"/>
              </a:rPr>
              <a:t>M3</a:t>
            </a:r>
            <a:endParaRPr lang="en-US" sz="1050" dirty="0"/>
          </a:p>
        </p:txBody>
      </p:sp>
      <p:sp>
        <p:nvSpPr>
          <p:cNvPr id="14" name="Shape 12"/>
          <p:cNvSpPr/>
          <p:nvPr/>
        </p:nvSpPr>
        <p:spPr>
          <a:xfrm>
            <a:off x="3127248" y="3026664"/>
            <a:ext cx="1261872" cy="0"/>
          </a:xfrm>
          <a:prstGeom prst="line">
            <a:avLst/>
          </a:prstGeom>
          <a:noFill/>
          <a:ln w="19050">
            <a:solidFill>
              <a:srgbClr val="E8ECEF"/>
            </a:solidFill>
            <a:prstDash val="solid"/>
          </a:ln>
        </p:spPr>
      </p:sp>
      <p:sp>
        <p:nvSpPr>
          <p:cNvPr id="15" name="Shape 13"/>
          <p:cNvSpPr/>
          <p:nvPr/>
        </p:nvSpPr>
        <p:spPr>
          <a:xfrm>
            <a:off x="4480560" y="2834640"/>
            <a:ext cx="384048" cy="384048"/>
          </a:xfrm>
          <a:prstGeom prst="ellipse">
            <a:avLst/>
          </a:prstGeom>
          <a:solidFill>
            <a:srgbClr val="1B5E55"/>
          </a:solidFill>
          <a:ln/>
        </p:spPr>
      </p:sp>
      <p:sp>
        <p:nvSpPr>
          <p:cNvPr id="16" name="Text 14"/>
          <p:cNvSpPr txBox="1"/>
          <p:nvPr/>
        </p:nvSpPr>
        <p:spPr>
          <a:xfrm>
            <a:off x="4480560" y="2875788"/>
            <a:ext cx="384048"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4480560" y="3383280"/>
            <a:ext cx="1572768" cy="566928"/>
          </a:xfrm>
          <a:prstGeom prst="rect">
            <a:avLst/>
          </a:prstGeom>
          <a:noFill/>
          <a:ln/>
        </p:spPr>
        <p:txBody>
          <a:bodyPr wrap="square" lIns="0" tIns="0" rIns="0" bIns="0" rtlCol="0" anchor="t"/>
          <a:lstStyle/>
          <a:p>
            <a:pPr marL="0" indent="0">
              <a:lnSpc>
                <a:spcPts val="1600"/>
              </a:lnSpc>
              <a:buNone/>
            </a:pPr>
            <a:r>
              <a:rPr lang="en-US" sz="1300" b="1" dirty="0">
                <a:solidFill>
                  <a:srgbClr val="1F2A44"/>
                </a:solidFill>
                <a:latin typeface="Calibri" pitchFamily="34" charset="0"/>
                <a:ea typeface="Calibri" pitchFamily="34" charset="-122"/>
                <a:cs typeface="Calibri" pitchFamily="34" charset="-120"/>
              </a:rPr>
              <a:t>Personas</a:t>
            </a:r>
            <a:endParaRPr lang="en-US" sz="1300" dirty="0"/>
          </a:p>
        </p:txBody>
      </p:sp>
      <p:sp>
        <p:nvSpPr>
          <p:cNvPr id="18" name="Text 16"/>
          <p:cNvSpPr txBox="1"/>
          <p:nvPr/>
        </p:nvSpPr>
        <p:spPr>
          <a:xfrm>
            <a:off x="4480560" y="3950208"/>
            <a:ext cx="1572768" cy="548640"/>
          </a:xfrm>
          <a:prstGeom prst="rect">
            <a:avLst/>
          </a:prstGeom>
          <a:noFill/>
          <a:ln/>
        </p:spPr>
        <p:txBody>
          <a:bodyPr wrap="square" lIns="0" tIns="0" rIns="0" bIns="0" rtlCol="0" anchor="t"/>
          <a:lstStyle/>
          <a:p>
            <a:pPr marL="0" indent="0">
              <a:lnSpc>
                <a:spcPts val="1400"/>
              </a:lnSpc>
              <a:buNone/>
            </a:pPr>
            <a:r>
              <a:rPr lang="en-US" sz="1050" dirty="0">
                <a:solidFill>
                  <a:srgbClr val="6B7280"/>
                </a:solidFill>
                <a:latin typeface="Calibri" pitchFamily="34" charset="0"/>
                <a:ea typeface="Calibri" pitchFamily="34" charset="-122"/>
                <a:cs typeface="Calibri" pitchFamily="34" charset="-120"/>
              </a:rPr>
              <a:t>Personne 3</a:t>
            </a:r>
            <a:endParaRPr lang="en-US" sz="1050" dirty="0"/>
          </a:p>
          <a:p>
            <a:pPr marL="0" indent="0">
              <a:lnSpc>
                <a:spcPts val="1400"/>
              </a:lnSpc>
              <a:buNone/>
            </a:pPr>
            <a:r>
              <a:rPr lang="en-US" sz="1050" dirty="0">
                <a:solidFill>
                  <a:srgbClr val="6B7280"/>
                </a:solidFill>
                <a:latin typeface="Calibri" pitchFamily="34" charset="0"/>
                <a:ea typeface="Calibri" pitchFamily="34" charset="-122"/>
                <a:cs typeface="Calibri" pitchFamily="34" charset="-120"/>
              </a:rPr>
              <a:t>M4</a:t>
            </a:r>
            <a:endParaRPr lang="en-US" sz="1050" dirty="0"/>
          </a:p>
        </p:txBody>
      </p:sp>
      <p:sp>
        <p:nvSpPr>
          <p:cNvPr id="19" name="Shape 17"/>
          <p:cNvSpPr/>
          <p:nvPr/>
        </p:nvSpPr>
        <p:spPr>
          <a:xfrm>
            <a:off x="4956048" y="3026664"/>
            <a:ext cx="1261872" cy="0"/>
          </a:xfrm>
          <a:prstGeom prst="line">
            <a:avLst/>
          </a:prstGeom>
          <a:noFill/>
          <a:ln w="19050">
            <a:solidFill>
              <a:srgbClr val="E8ECEF"/>
            </a:solidFill>
            <a:prstDash val="solid"/>
          </a:ln>
        </p:spPr>
      </p:sp>
      <p:sp>
        <p:nvSpPr>
          <p:cNvPr id="20" name="Shape 18"/>
          <p:cNvSpPr/>
          <p:nvPr/>
        </p:nvSpPr>
        <p:spPr>
          <a:xfrm>
            <a:off x="6309360" y="2834640"/>
            <a:ext cx="384048" cy="384048"/>
          </a:xfrm>
          <a:prstGeom prst="ellipse">
            <a:avLst/>
          </a:prstGeom>
          <a:solidFill>
            <a:srgbClr val="1B5E55"/>
          </a:solidFill>
          <a:ln/>
        </p:spPr>
      </p:sp>
      <p:sp>
        <p:nvSpPr>
          <p:cNvPr id="21" name="Text 19"/>
          <p:cNvSpPr txBox="1"/>
          <p:nvPr/>
        </p:nvSpPr>
        <p:spPr>
          <a:xfrm>
            <a:off x="6309360" y="2875788"/>
            <a:ext cx="384048"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6309360" y="3383280"/>
            <a:ext cx="1572768" cy="566928"/>
          </a:xfrm>
          <a:prstGeom prst="rect">
            <a:avLst/>
          </a:prstGeom>
          <a:noFill/>
          <a:ln/>
        </p:spPr>
        <p:txBody>
          <a:bodyPr wrap="square" lIns="0" tIns="0" rIns="0" bIns="0" rtlCol="0" anchor="t"/>
          <a:lstStyle/>
          <a:p>
            <a:pPr marL="0" indent="0">
              <a:lnSpc>
                <a:spcPts val="1600"/>
              </a:lnSpc>
              <a:buNone/>
            </a:pPr>
            <a:r>
              <a:rPr lang="en-US" sz="1300" b="1" dirty="0">
                <a:solidFill>
                  <a:srgbClr val="1F2A44"/>
                </a:solidFill>
                <a:latin typeface="Calibri" pitchFamily="34" charset="0"/>
                <a:ea typeface="Calibri" pitchFamily="34" charset="-122"/>
                <a:cs typeface="Calibri" pitchFamily="34" charset="-120"/>
              </a:rPr>
              <a:t>Campagnes</a:t>
            </a:r>
            <a:endParaRPr lang="en-US" sz="1300" dirty="0"/>
          </a:p>
        </p:txBody>
      </p:sp>
      <p:sp>
        <p:nvSpPr>
          <p:cNvPr id="23" name="Text 21"/>
          <p:cNvSpPr txBox="1"/>
          <p:nvPr/>
        </p:nvSpPr>
        <p:spPr>
          <a:xfrm>
            <a:off x="6309360" y="3950208"/>
            <a:ext cx="1572768" cy="548640"/>
          </a:xfrm>
          <a:prstGeom prst="rect">
            <a:avLst/>
          </a:prstGeom>
          <a:noFill/>
          <a:ln/>
        </p:spPr>
        <p:txBody>
          <a:bodyPr wrap="square" lIns="0" tIns="0" rIns="0" bIns="0" rtlCol="0" anchor="t"/>
          <a:lstStyle/>
          <a:p>
            <a:pPr marL="0" indent="0">
              <a:lnSpc>
                <a:spcPts val="1400"/>
              </a:lnSpc>
              <a:buNone/>
            </a:pPr>
            <a:r>
              <a:rPr lang="en-US" sz="1050" dirty="0">
                <a:solidFill>
                  <a:srgbClr val="6B7280"/>
                </a:solidFill>
                <a:latin typeface="Calibri" pitchFamily="34" charset="0"/>
                <a:ea typeface="Calibri" pitchFamily="34" charset="-122"/>
                <a:cs typeface="Calibri" pitchFamily="34" charset="-120"/>
              </a:rPr>
              <a:t>Personne 4</a:t>
            </a:r>
            <a:endParaRPr lang="en-US" sz="1050" dirty="0"/>
          </a:p>
          <a:p>
            <a:pPr marL="0" indent="0">
              <a:lnSpc>
                <a:spcPts val="1400"/>
              </a:lnSpc>
              <a:buNone/>
            </a:pPr>
            <a:r>
              <a:rPr lang="en-US" sz="1050" dirty="0">
                <a:solidFill>
                  <a:srgbClr val="6B7280"/>
                </a:solidFill>
                <a:latin typeface="Calibri" pitchFamily="34" charset="0"/>
                <a:ea typeface="Calibri" pitchFamily="34" charset="-122"/>
                <a:cs typeface="Calibri" pitchFamily="34" charset="-120"/>
              </a:rPr>
              <a:t>M5</a:t>
            </a:r>
            <a:endParaRPr lang="en-US" sz="1050" dirty="0"/>
          </a:p>
        </p:txBody>
      </p:sp>
      <p:sp>
        <p:nvSpPr>
          <p:cNvPr id="24" name="Shape 22"/>
          <p:cNvSpPr/>
          <p:nvPr/>
        </p:nvSpPr>
        <p:spPr>
          <a:xfrm>
            <a:off x="6784848" y="3026664"/>
            <a:ext cx="1261872" cy="0"/>
          </a:xfrm>
          <a:prstGeom prst="line">
            <a:avLst/>
          </a:prstGeom>
          <a:noFill/>
          <a:ln w="19050">
            <a:solidFill>
              <a:srgbClr val="E8ECEF"/>
            </a:solidFill>
            <a:prstDash val="solid"/>
          </a:ln>
        </p:spPr>
      </p:sp>
      <p:sp>
        <p:nvSpPr>
          <p:cNvPr id="25" name="Shape 23"/>
          <p:cNvSpPr/>
          <p:nvPr/>
        </p:nvSpPr>
        <p:spPr>
          <a:xfrm>
            <a:off x="8138160" y="2834640"/>
            <a:ext cx="384048" cy="384048"/>
          </a:xfrm>
          <a:prstGeom prst="ellipse">
            <a:avLst/>
          </a:prstGeom>
          <a:solidFill>
            <a:srgbClr val="1B5E55"/>
          </a:solidFill>
          <a:ln/>
        </p:spPr>
      </p:sp>
      <p:sp>
        <p:nvSpPr>
          <p:cNvPr id="26" name="Text 24"/>
          <p:cNvSpPr txBox="1"/>
          <p:nvPr/>
        </p:nvSpPr>
        <p:spPr>
          <a:xfrm>
            <a:off x="8138160" y="2875788"/>
            <a:ext cx="384048"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8138160" y="3383280"/>
            <a:ext cx="1572768" cy="566928"/>
          </a:xfrm>
          <a:prstGeom prst="rect">
            <a:avLst/>
          </a:prstGeom>
          <a:noFill/>
          <a:ln/>
        </p:spPr>
        <p:txBody>
          <a:bodyPr wrap="square" lIns="0" tIns="0" rIns="0" bIns="0" rtlCol="0" anchor="t"/>
          <a:lstStyle/>
          <a:p>
            <a:pPr marL="0" indent="0">
              <a:lnSpc>
                <a:spcPts val="1600"/>
              </a:lnSpc>
              <a:buNone/>
            </a:pPr>
            <a:r>
              <a:rPr lang="en-US" sz="1300" b="1" dirty="0">
                <a:solidFill>
                  <a:srgbClr val="1F2A44"/>
                </a:solidFill>
                <a:latin typeface="Calibri" pitchFamily="34" charset="0"/>
                <a:ea typeface="Calibri" pitchFamily="34" charset="-122"/>
                <a:cs typeface="Calibri" pitchFamily="34" charset="-120"/>
              </a:rPr>
              <a:t>Prédiction</a:t>
            </a:r>
            <a:endParaRPr lang="en-US" sz="1300" dirty="0"/>
          </a:p>
        </p:txBody>
      </p:sp>
      <p:sp>
        <p:nvSpPr>
          <p:cNvPr id="28" name="Text 26"/>
          <p:cNvSpPr txBox="1"/>
          <p:nvPr/>
        </p:nvSpPr>
        <p:spPr>
          <a:xfrm>
            <a:off x="8138160" y="3950208"/>
            <a:ext cx="1572768" cy="548640"/>
          </a:xfrm>
          <a:prstGeom prst="rect">
            <a:avLst/>
          </a:prstGeom>
          <a:noFill/>
          <a:ln/>
        </p:spPr>
        <p:txBody>
          <a:bodyPr wrap="square" lIns="0" tIns="0" rIns="0" bIns="0" rtlCol="0" anchor="t"/>
          <a:lstStyle/>
          <a:p>
            <a:pPr marL="0" indent="0">
              <a:lnSpc>
                <a:spcPts val="1400"/>
              </a:lnSpc>
              <a:buNone/>
            </a:pPr>
            <a:r>
              <a:rPr lang="en-US" sz="1050" dirty="0">
                <a:solidFill>
                  <a:srgbClr val="6B7280"/>
                </a:solidFill>
                <a:latin typeface="Calibri" pitchFamily="34" charset="0"/>
                <a:ea typeface="Calibri" pitchFamily="34" charset="-122"/>
                <a:cs typeface="Calibri" pitchFamily="34" charset="-120"/>
              </a:rPr>
              <a:t>Personne 5</a:t>
            </a:r>
            <a:endParaRPr lang="en-US" sz="1050" dirty="0"/>
          </a:p>
          <a:p>
            <a:pPr marL="0" indent="0">
              <a:lnSpc>
                <a:spcPts val="1400"/>
              </a:lnSpc>
              <a:buNone/>
            </a:pPr>
            <a:r>
              <a:rPr lang="en-US" sz="1050" dirty="0">
                <a:solidFill>
                  <a:srgbClr val="6B7280"/>
                </a:solidFill>
                <a:latin typeface="Calibri" pitchFamily="34" charset="0"/>
                <a:ea typeface="Calibri" pitchFamily="34" charset="-122"/>
                <a:cs typeface="Calibri" pitchFamily="34" charset="-120"/>
              </a:rPr>
              <a:t>M6</a:t>
            </a:r>
            <a:endParaRPr lang="en-US" sz="1050" dirty="0"/>
          </a:p>
        </p:txBody>
      </p:sp>
      <p:sp>
        <p:nvSpPr>
          <p:cNvPr id="29" name="Shape 27"/>
          <p:cNvSpPr/>
          <p:nvPr/>
        </p:nvSpPr>
        <p:spPr>
          <a:xfrm>
            <a:off x="8613648" y="3026664"/>
            <a:ext cx="1261872" cy="0"/>
          </a:xfrm>
          <a:prstGeom prst="line">
            <a:avLst/>
          </a:prstGeom>
          <a:noFill/>
          <a:ln w="19050">
            <a:solidFill>
              <a:srgbClr val="E8ECEF"/>
            </a:solidFill>
            <a:prstDash val="solid"/>
          </a:ln>
        </p:spPr>
      </p:sp>
      <p:sp>
        <p:nvSpPr>
          <p:cNvPr id="30" name="Shape 28"/>
          <p:cNvSpPr/>
          <p:nvPr/>
        </p:nvSpPr>
        <p:spPr>
          <a:xfrm>
            <a:off x="9966960" y="2834640"/>
            <a:ext cx="384048" cy="384048"/>
          </a:xfrm>
          <a:prstGeom prst="ellipse">
            <a:avLst/>
          </a:prstGeom>
          <a:solidFill>
            <a:srgbClr val="1B5E55"/>
          </a:solidFill>
          <a:ln/>
        </p:spPr>
      </p:sp>
      <p:sp>
        <p:nvSpPr>
          <p:cNvPr id="31" name="Text 29"/>
          <p:cNvSpPr txBox="1"/>
          <p:nvPr/>
        </p:nvSpPr>
        <p:spPr>
          <a:xfrm>
            <a:off x="9966960" y="2875788"/>
            <a:ext cx="384048"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txBox="1"/>
          <p:nvPr/>
        </p:nvSpPr>
        <p:spPr>
          <a:xfrm>
            <a:off x="9966960" y="3383280"/>
            <a:ext cx="1572768" cy="566928"/>
          </a:xfrm>
          <a:prstGeom prst="rect">
            <a:avLst/>
          </a:prstGeom>
          <a:noFill/>
          <a:ln/>
        </p:spPr>
        <p:txBody>
          <a:bodyPr wrap="square" lIns="0" tIns="0" rIns="0" bIns="0" rtlCol="0" anchor="t"/>
          <a:lstStyle/>
          <a:p>
            <a:pPr marL="0" indent="0">
              <a:lnSpc>
                <a:spcPts val="1600"/>
              </a:lnSpc>
              <a:buNone/>
            </a:pPr>
            <a:r>
              <a:rPr lang="en-US" sz="1300" b="1" dirty="0">
                <a:solidFill>
                  <a:srgbClr val="1F2A44"/>
                </a:solidFill>
                <a:latin typeface="Calibri" pitchFamily="34" charset="0"/>
                <a:ea typeface="Calibri" pitchFamily="34" charset="-122"/>
                <a:cs typeface="Calibri" pitchFamily="34" charset="-120"/>
              </a:rPr>
              <a:t>Stratégie</a:t>
            </a:r>
            <a:endParaRPr lang="en-US" sz="1300" dirty="0"/>
          </a:p>
        </p:txBody>
      </p:sp>
      <p:sp>
        <p:nvSpPr>
          <p:cNvPr id="33" name="Text 31"/>
          <p:cNvSpPr txBox="1"/>
          <p:nvPr/>
        </p:nvSpPr>
        <p:spPr>
          <a:xfrm>
            <a:off x="9966960" y="3950208"/>
            <a:ext cx="1572768" cy="548640"/>
          </a:xfrm>
          <a:prstGeom prst="rect">
            <a:avLst/>
          </a:prstGeom>
          <a:noFill/>
          <a:ln/>
        </p:spPr>
        <p:txBody>
          <a:bodyPr wrap="square" lIns="0" tIns="0" rIns="0" bIns="0" rtlCol="0" anchor="t"/>
          <a:lstStyle/>
          <a:p>
            <a:pPr marL="0" indent="0">
              <a:lnSpc>
                <a:spcPts val="1400"/>
              </a:lnSpc>
              <a:buNone/>
            </a:pPr>
            <a:r>
              <a:rPr lang="en-US" sz="1050" dirty="0">
                <a:solidFill>
                  <a:srgbClr val="6B7280"/>
                </a:solidFill>
                <a:latin typeface="Calibri" pitchFamily="34" charset="0"/>
                <a:ea typeface="Calibri" pitchFamily="34" charset="-122"/>
                <a:cs typeface="Calibri" pitchFamily="34" charset="-120"/>
              </a:rPr>
              <a:t>Personne 6</a:t>
            </a:r>
            <a:endParaRPr lang="en-US" sz="1050" dirty="0"/>
          </a:p>
          <a:p>
            <a:pPr marL="0" indent="0">
              <a:lnSpc>
                <a:spcPts val="1400"/>
              </a:lnSpc>
              <a:buNone/>
            </a:pPr>
            <a:r>
              <a:rPr lang="en-US" sz="1050" dirty="0">
                <a:solidFill>
                  <a:srgbClr val="6B7280"/>
                </a:solidFill>
                <a:latin typeface="Calibri" pitchFamily="34" charset="0"/>
                <a:ea typeface="Calibri" pitchFamily="34" charset="-122"/>
                <a:cs typeface="Calibri" pitchFamily="34" charset="-120"/>
              </a:rPr>
              <a:t>M7 · M8 · M9</a:t>
            </a:r>
            <a:endParaRPr lang="en-US" sz="1050" dirty="0"/>
          </a:p>
        </p:txBody>
      </p:sp>
      <p:sp>
        <p:nvSpPr>
          <p:cNvPr id="34" name="Text 32"/>
          <p:cNvSpPr txBox="1"/>
          <p:nvPr/>
        </p:nvSpPr>
        <p:spPr>
          <a:xfrm>
            <a:off x="822960" y="5257800"/>
            <a:ext cx="9692640" cy="548640"/>
          </a:xfrm>
          <a:prstGeom prst="rect">
            <a:avLst/>
          </a:prstGeom>
          <a:noFill/>
          <a:ln/>
        </p:spPr>
        <p:txBody>
          <a:bodyPr wrap="square" lIns="0" tIns="0" rIns="0" bIns="0" rtlCol="0" anchor="t"/>
          <a:lstStyle/>
          <a:p>
            <a:pPr marL="0" indent="0">
              <a:buNone/>
            </a:pPr>
            <a:r>
              <a:rPr lang="en-US" sz="1250" i="1" dirty="0">
                <a:solidFill>
                  <a:srgbClr val="1B5E55"/>
                </a:solidFill>
                <a:latin typeface="Calibri" pitchFamily="34" charset="0"/>
                <a:ea typeface="Calibri" pitchFamily="34" charset="-122"/>
                <a:cs typeface="Calibri" pitchFamily="34" charset="-120"/>
              </a:rPr>
              <a:t>Aucun maillon ne peut démarrer avant que le précédent ait livré. Cette contrainte a structuré tout le calendrier du projet.</a:t>
            </a:r>
            <a:endParaRPr lang="en-US" sz="1250" dirty="0"/>
          </a:p>
        </p:txBody>
      </p:sp>
      <p:sp>
        <p:nvSpPr>
          <p:cNvPr id="35" name="Text 33"/>
          <p:cNvSpPr txBox="1"/>
          <p:nvPr/>
        </p:nvSpPr>
        <p:spPr>
          <a:xfrm>
            <a:off x="10789920" y="626364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822960" y="566928"/>
            <a:ext cx="10515600" cy="274320"/>
          </a:xfrm>
          <a:prstGeom prst="rect">
            <a:avLst/>
          </a:prstGeom>
          <a:noFill/>
          <a:ln/>
        </p:spPr>
        <p:txBody>
          <a:bodyPr wrap="square" lIns="0" tIns="0" rIns="0" bIns="0" rtlCol="0" anchor="ctr"/>
          <a:lstStyle/>
          <a:p>
            <a:pPr marL="0" indent="0">
              <a:buNone/>
            </a:pPr>
            <a:r>
              <a:rPr lang="en-US" sz="1100" b="1" kern="0" spc="240" dirty="0">
                <a:solidFill>
                  <a:srgbClr val="1B5E55"/>
                </a:solidFill>
                <a:latin typeface="Calibri" pitchFamily="34" charset="0"/>
                <a:ea typeface="Calibri" pitchFamily="34" charset="-122"/>
                <a:cs typeface="Calibri" pitchFamily="34" charset="-120"/>
              </a:rPr>
              <a:t>PERSONNE 1 · MODULES M1 + M2</a:t>
            </a:r>
            <a:endParaRPr lang="en-US" sz="1100" dirty="0"/>
          </a:p>
        </p:txBody>
      </p:sp>
      <p:sp>
        <p:nvSpPr>
          <p:cNvPr id="3" name="Text 1"/>
          <p:cNvSpPr txBox="1"/>
          <p:nvPr/>
        </p:nvSpPr>
        <p:spPr>
          <a:xfrm>
            <a:off x="822960" y="914400"/>
            <a:ext cx="10515600" cy="1554480"/>
          </a:xfrm>
          <a:prstGeom prst="rect">
            <a:avLst/>
          </a:prstGeom>
          <a:noFill/>
          <a:ln/>
        </p:spPr>
        <p:txBody>
          <a:bodyPr wrap="square" lIns="0" tIns="0" rIns="0" bIns="0" rtlCol="0" anchor="t"/>
          <a:lstStyle/>
          <a:p>
            <a:pPr marL="0" indent="0">
              <a:lnSpc>
                <a:spcPts val="4000"/>
              </a:lnSpc>
              <a:buNone/>
            </a:pPr>
            <a:r>
              <a:rPr lang="en-US" sz="3400" b="1" dirty="0">
                <a:solidFill>
                  <a:srgbClr val="1F2A44"/>
                </a:solidFill>
                <a:latin typeface="Cambria" pitchFamily="34" charset="0"/>
                <a:ea typeface="Cambria" pitchFamily="34" charset="-122"/>
                <a:cs typeface="Cambria" pitchFamily="34" charset="-120"/>
              </a:rPr>
              <a:t>Commencer par les données,</a:t>
            </a:r>
            <a:endParaRPr lang="en-US" sz="3400" dirty="0"/>
          </a:p>
          <a:p>
            <a:pPr marL="0" indent="0">
              <a:lnSpc>
                <a:spcPts val="4000"/>
              </a:lnSpc>
              <a:buNone/>
            </a:pPr>
            <a:r>
              <a:rPr lang="en-US" sz="3400" b="1" dirty="0">
                <a:solidFill>
                  <a:srgbClr val="1F2A44"/>
                </a:solidFill>
                <a:latin typeface="Cambria" pitchFamily="34" charset="0"/>
                <a:ea typeface="Cambria" pitchFamily="34" charset="-122"/>
                <a:cs typeface="Cambria" pitchFamily="34" charset="-120"/>
              </a:rPr>
              <a:t>pas par les hypothèses</a:t>
            </a:r>
            <a:endParaRPr lang="en-US" sz="3400" dirty="0"/>
          </a:p>
        </p:txBody>
      </p:sp>
      <p:sp>
        <p:nvSpPr>
          <p:cNvPr id="4" name="Shape 2"/>
          <p:cNvSpPr/>
          <p:nvPr/>
        </p:nvSpPr>
        <p:spPr>
          <a:xfrm>
            <a:off x="822960" y="2743200"/>
            <a:ext cx="3200400" cy="2286000"/>
          </a:xfrm>
          <a:prstGeom prst="roundRect">
            <a:avLst>
              <a:gd name="adj" fmla="val 2400"/>
            </a:avLst>
          </a:prstGeom>
          <a:solidFill>
            <a:srgbClr val="F7F9FA"/>
          </a:solidFill>
          <a:ln w="12700">
            <a:solidFill>
              <a:srgbClr val="E8ECEF"/>
            </a:solidFill>
            <a:prstDash val="solid"/>
          </a:ln>
        </p:spPr>
      </p:sp>
      <p:sp>
        <p:nvSpPr>
          <p:cNvPr id="5" name="Text 3"/>
          <p:cNvSpPr txBox="1"/>
          <p:nvPr/>
        </p:nvSpPr>
        <p:spPr>
          <a:xfrm>
            <a:off x="1097280" y="2999232"/>
            <a:ext cx="2651760" cy="457200"/>
          </a:xfrm>
          <a:prstGeom prst="rect">
            <a:avLst/>
          </a:prstGeom>
          <a:noFill/>
          <a:ln/>
        </p:spPr>
        <p:txBody>
          <a:bodyPr wrap="square" lIns="0" tIns="0" rIns="0" bIns="0" rtlCol="0" anchor="t"/>
          <a:lstStyle/>
          <a:p>
            <a:pPr marL="0" indent="0">
              <a:buNone/>
            </a:pPr>
            <a:r>
              <a:rPr lang="en-US" sz="1400" b="1" dirty="0">
                <a:solidFill>
                  <a:srgbClr val="1B5E55"/>
                </a:solidFill>
                <a:latin typeface="Calibri" pitchFamily="34" charset="0"/>
                <a:ea typeface="Calibri" pitchFamily="34" charset="-122"/>
                <a:cs typeface="Calibri" pitchFamily="34" charset="-120"/>
              </a:rPr>
              <a:t>Cadrage stratégique</a:t>
            </a:r>
            <a:endParaRPr lang="en-US" sz="1400" dirty="0"/>
          </a:p>
        </p:txBody>
      </p:sp>
      <p:sp>
        <p:nvSpPr>
          <p:cNvPr id="6" name="Text 4"/>
          <p:cNvSpPr txBox="1"/>
          <p:nvPr/>
        </p:nvSpPr>
        <p:spPr>
          <a:xfrm>
            <a:off x="1097280" y="3520440"/>
            <a:ext cx="2651760" cy="1234440"/>
          </a:xfrm>
          <a:prstGeom prst="rect">
            <a:avLst/>
          </a:prstGeom>
          <a:noFill/>
          <a:ln/>
        </p:spPr>
        <p:txBody>
          <a:bodyPr wrap="square" lIns="0" tIns="0" rIns="0" bIns="0" rtlCol="0" anchor="t"/>
          <a:lstStyle/>
          <a:p>
            <a:pPr marL="0" indent="0">
              <a:lnSpc>
                <a:spcPts val="1600"/>
              </a:lnSpc>
              <a:buNone/>
            </a:pPr>
            <a:r>
              <a:rPr lang="en-US" sz="1150" dirty="0">
                <a:solidFill>
                  <a:srgbClr val="1F2A44"/>
                </a:solidFill>
                <a:latin typeface="Calibri" pitchFamily="34" charset="0"/>
                <a:ea typeface="Calibri" pitchFamily="34" charset="-122"/>
                <a:cs typeface="Calibri" pitchFamily="34" charset="-120"/>
              </a:rPr>
              <a:t>Analyse SWOT, les 5P du marketing et un parcours client simplifié — chaque étape reliée aux données qui la mesurent.</a:t>
            </a:r>
            <a:endParaRPr lang="en-US" sz="1150" dirty="0"/>
          </a:p>
        </p:txBody>
      </p:sp>
      <p:sp>
        <p:nvSpPr>
          <p:cNvPr id="7" name="Shape 5"/>
          <p:cNvSpPr/>
          <p:nvPr/>
        </p:nvSpPr>
        <p:spPr>
          <a:xfrm>
            <a:off x="4297680" y="2743200"/>
            <a:ext cx="3200400" cy="2286000"/>
          </a:xfrm>
          <a:prstGeom prst="roundRect">
            <a:avLst>
              <a:gd name="adj" fmla="val 2400"/>
            </a:avLst>
          </a:prstGeom>
          <a:solidFill>
            <a:srgbClr val="F7F9FA"/>
          </a:solidFill>
          <a:ln w="12700">
            <a:solidFill>
              <a:srgbClr val="E8ECEF"/>
            </a:solidFill>
            <a:prstDash val="solid"/>
          </a:ln>
        </p:spPr>
      </p:sp>
      <p:sp>
        <p:nvSpPr>
          <p:cNvPr id="8" name="Text 6"/>
          <p:cNvSpPr txBox="1"/>
          <p:nvPr/>
        </p:nvSpPr>
        <p:spPr>
          <a:xfrm>
            <a:off x="4572000" y="2999232"/>
            <a:ext cx="2651760" cy="457200"/>
          </a:xfrm>
          <a:prstGeom prst="rect">
            <a:avLst/>
          </a:prstGeom>
          <a:noFill/>
          <a:ln/>
        </p:spPr>
        <p:txBody>
          <a:bodyPr wrap="square" lIns="0" tIns="0" rIns="0" bIns="0" rtlCol="0" anchor="t"/>
          <a:lstStyle/>
          <a:p>
            <a:pPr marL="0" indent="0">
              <a:buNone/>
            </a:pPr>
            <a:r>
              <a:rPr lang="en-US" sz="1400" b="1" dirty="0">
                <a:solidFill>
                  <a:srgbClr val="1B5E55"/>
                </a:solidFill>
                <a:latin typeface="Calibri" pitchFamily="34" charset="0"/>
                <a:ea typeface="Calibri" pitchFamily="34" charset="-122"/>
                <a:cs typeface="Calibri" pitchFamily="34" charset="-120"/>
              </a:rPr>
              <a:t>Nettoyage</a:t>
            </a:r>
            <a:endParaRPr lang="en-US" sz="1400" dirty="0"/>
          </a:p>
        </p:txBody>
      </p:sp>
      <p:sp>
        <p:nvSpPr>
          <p:cNvPr id="9" name="Text 7"/>
          <p:cNvSpPr txBox="1"/>
          <p:nvPr/>
        </p:nvSpPr>
        <p:spPr>
          <a:xfrm>
            <a:off x="4572000" y="3520440"/>
            <a:ext cx="2651760" cy="1234440"/>
          </a:xfrm>
          <a:prstGeom prst="rect">
            <a:avLst/>
          </a:prstGeom>
          <a:noFill/>
          <a:ln/>
        </p:spPr>
        <p:txBody>
          <a:bodyPr wrap="square" lIns="0" tIns="0" rIns="0" bIns="0" rtlCol="0" anchor="t"/>
          <a:lstStyle/>
          <a:p>
            <a:pPr marL="0" indent="0">
              <a:lnSpc>
                <a:spcPts val="1600"/>
              </a:lnSpc>
              <a:buNone/>
            </a:pPr>
            <a:r>
              <a:rPr lang="en-US" sz="1150" dirty="0">
                <a:solidFill>
                  <a:srgbClr val="1F2A44"/>
                </a:solidFill>
                <a:latin typeface="Calibri" pitchFamily="34" charset="0"/>
                <a:ea typeface="Calibri" pitchFamily="34" charset="-122"/>
                <a:cs typeface="Calibri" pitchFamily="34" charset="-120"/>
              </a:rPr>
              <a:t>Dates converties, doublons supprimés, valeurs aberrantes vérifiées, catégories textuelles normalisées.</a:t>
            </a:r>
            <a:endParaRPr lang="en-US" sz="1150" dirty="0"/>
          </a:p>
        </p:txBody>
      </p:sp>
      <p:sp>
        <p:nvSpPr>
          <p:cNvPr id="10" name="Shape 8"/>
          <p:cNvSpPr/>
          <p:nvPr/>
        </p:nvSpPr>
        <p:spPr>
          <a:xfrm>
            <a:off x="7772400" y="2743200"/>
            <a:ext cx="3200400" cy="2286000"/>
          </a:xfrm>
          <a:prstGeom prst="roundRect">
            <a:avLst>
              <a:gd name="adj" fmla="val 2400"/>
            </a:avLst>
          </a:prstGeom>
          <a:solidFill>
            <a:srgbClr val="F7F9FA"/>
          </a:solidFill>
          <a:ln w="12700">
            <a:solidFill>
              <a:srgbClr val="E8ECEF"/>
            </a:solidFill>
            <a:prstDash val="solid"/>
          </a:ln>
        </p:spPr>
      </p:sp>
      <p:sp>
        <p:nvSpPr>
          <p:cNvPr id="11" name="Text 9"/>
          <p:cNvSpPr txBox="1"/>
          <p:nvPr/>
        </p:nvSpPr>
        <p:spPr>
          <a:xfrm>
            <a:off x="8046720" y="2999232"/>
            <a:ext cx="2651760" cy="457200"/>
          </a:xfrm>
          <a:prstGeom prst="rect">
            <a:avLst/>
          </a:prstGeom>
          <a:noFill/>
          <a:ln/>
        </p:spPr>
        <p:txBody>
          <a:bodyPr wrap="square" lIns="0" tIns="0" rIns="0" bIns="0" rtlCol="0" anchor="t"/>
          <a:lstStyle/>
          <a:p>
            <a:pPr marL="0" indent="0">
              <a:buNone/>
            </a:pPr>
            <a:r>
              <a:rPr lang="en-US" sz="1400" b="1" dirty="0">
                <a:solidFill>
                  <a:srgbClr val="1B5E55"/>
                </a:solidFill>
                <a:latin typeface="Calibri" pitchFamily="34" charset="0"/>
                <a:ea typeface="Calibri" pitchFamily="34" charset="-122"/>
                <a:cs typeface="Calibri" pitchFamily="34" charset="-120"/>
              </a:rPr>
              <a:t>Enrichissement</a:t>
            </a:r>
            <a:endParaRPr lang="en-US" sz="1400" dirty="0"/>
          </a:p>
        </p:txBody>
      </p:sp>
      <p:sp>
        <p:nvSpPr>
          <p:cNvPr id="12" name="Text 10"/>
          <p:cNvSpPr txBox="1"/>
          <p:nvPr/>
        </p:nvSpPr>
        <p:spPr>
          <a:xfrm>
            <a:off x="8046720" y="3520440"/>
            <a:ext cx="2651760" cy="1234440"/>
          </a:xfrm>
          <a:prstGeom prst="rect">
            <a:avLst/>
          </a:prstGeom>
          <a:noFill/>
          <a:ln/>
        </p:spPr>
        <p:txBody>
          <a:bodyPr wrap="square" lIns="0" tIns="0" rIns="0" bIns="0" rtlCol="0" anchor="t"/>
          <a:lstStyle/>
          <a:p>
            <a:pPr marL="0" indent="0">
              <a:lnSpc>
                <a:spcPts val="1600"/>
              </a:lnSpc>
              <a:buNone/>
            </a:pPr>
            <a:r>
              <a:rPr lang="en-US" sz="1150" dirty="0">
                <a:solidFill>
                  <a:srgbClr val="1F2A44"/>
                </a:solidFill>
                <a:latin typeface="Calibri" pitchFamily="34" charset="0"/>
                <a:ea typeface="Calibri" pitchFamily="34" charset="-122"/>
                <a:cs typeface="Calibri" pitchFamily="34" charset="-120"/>
              </a:rPr>
              <a:t>Montant total par transaction et tranches d'âge ajoutés, pour alimenter directement la segmentation.</a:t>
            </a:r>
            <a:endParaRPr lang="en-US" sz="1150" dirty="0"/>
          </a:p>
        </p:txBody>
      </p:sp>
      <p:sp>
        <p:nvSpPr>
          <p:cNvPr id="13" name="Text 11"/>
          <p:cNvSpPr txBox="1"/>
          <p:nvPr/>
        </p:nvSpPr>
        <p:spPr>
          <a:xfrm>
            <a:off x="822960" y="5349240"/>
            <a:ext cx="9692640" cy="457200"/>
          </a:xfrm>
          <a:prstGeom prst="rect">
            <a:avLst/>
          </a:prstGeom>
          <a:noFill/>
          <a:ln/>
        </p:spPr>
        <p:txBody>
          <a:bodyPr wrap="square" lIns="0" tIns="0" rIns="0" bIns="0" rtlCol="0" anchor="ctr"/>
          <a:lstStyle/>
          <a:p>
            <a:pPr marL="0" indent="0">
              <a:buNone/>
            </a:pPr>
            <a:r>
              <a:rPr lang="en-US" sz="1300" i="1" dirty="0">
                <a:solidFill>
                  <a:srgbClr val="1B5E55"/>
                </a:solidFill>
                <a:latin typeface="Calibri" pitchFamily="34" charset="0"/>
                <a:ea typeface="Calibri" pitchFamily="34" charset="-122"/>
                <a:cs typeface="Calibri" pitchFamily="34" charset="-120"/>
              </a:rPr>
              <a:t>Constat : la clientèle se concentre entre 25 et 41 ans.</a:t>
            </a:r>
            <a:endParaRPr lang="en-US" sz="1300" dirty="0"/>
          </a:p>
        </p:txBody>
      </p:sp>
      <p:sp>
        <p:nvSpPr>
          <p:cNvPr id="14" name="Text 12"/>
          <p:cNvSpPr txBox="1"/>
          <p:nvPr/>
        </p:nvSpPr>
        <p:spPr>
          <a:xfrm>
            <a:off x="10789920" y="626364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822960" y="566928"/>
            <a:ext cx="10515600" cy="274320"/>
          </a:xfrm>
          <a:prstGeom prst="rect">
            <a:avLst/>
          </a:prstGeom>
          <a:noFill/>
          <a:ln/>
        </p:spPr>
        <p:txBody>
          <a:bodyPr wrap="square" lIns="0" tIns="0" rIns="0" bIns="0" rtlCol="0" anchor="ctr"/>
          <a:lstStyle/>
          <a:p>
            <a:pPr marL="0" indent="0">
              <a:buNone/>
            </a:pPr>
            <a:r>
              <a:rPr lang="en-US" sz="1100" b="1" kern="0" spc="240" dirty="0">
                <a:solidFill>
                  <a:srgbClr val="1B5E55"/>
                </a:solidFill>
                <a:latin typeface="Calibri" pitchFamily="34" charset="0"/>
                <a:ea typeface="Calibri" pitchFamily="34" charset="-122"/>
                <a:cs typeface="Calibri" pitchFamily="34" charset="-120"/>
              </a:rPr>
              <a:t>PERSONNE 2 · MODULE M3</a:t>
            </a:r>
            <a:endParaRPr lang="en-US" sz="1100" dirty="0"/>
          </a:p>
        </p:txBody>
      </p:sp>
      <p:sp>
        <p:nvSpPr>
          <p:cNvPr id="3" name="Text 1"/>
          <p:cNvSpPr txBox="1"/>
          <p:nvPr/>
        </p:nvSpPr>
        <p:spPr>
          <a:xfrm>
            <a:off x="822960" y="914400"/>
            <a:ext cx="6035040" cy="1554480"/>
          </a:xfrm>
          <a:prstGeom prst="rect">
            <a:avLst/>
          </a:prstGeom>
          <a:noFill/>
          <a:ln/>
        </p:spPr>
        <p:txBody>
          <a:bodyPr wrap="square" lIns="0" tIns="0" rIns="0" bIns="0" rtlCol="0" anchor="t"/>
          <a:lstStyle/>
          <a:p>
            <a:pPr marL="0" indent="0">
              <a:lnSpc>
                <a:spcPts val="4000"/>
              </a:lnSpc>
              <a:buNone/>
            </a:pPr>
            <a:r>
              <a:rPr lang="en-US" sz="3400" b="1" dirty="0">
                <a:solidFill>
                  <a:srgbClr val="1F2A44"/>
                </a:solidFill>
                <a:latin typeface="Cambria" pitchFamily="34" charset="0"/>
                <a:ea typeface="Cambria" pitchFamily="34" charset="-122"/>
                <a:cs typeface="Cambria" pitchFamily="34" charset="-120"/>
              </a:rPr>
              <a:t>Tous les clients</a:t>
            </a:r>
            <a:endParaRPr lang="en-US" sz="3400" dirty="0"/>
          </a:p>
          <a:p>
            <a:pPr marL="0" indent="0">
              <a:lnSpc>
                <a:spcPts val="4000"/>
              </a:lnSpc>
              <a:buNone/>
            </a:pPr>
            <a:r>
              <a:rPr lang="en-US" sz="3400" b="1" dirty="0">
                <a:solidFill>
                  <a:srgbClr val="1F2A44"/>
                </a:solidFill>
                <a:latin typeface="Cambria" pitchFamily="34" charset="0"/>
                <a:ea typeface="Cambria" pitchFamily="34" charset="-122"/>
                <a:cs typeface="Cambria" pitchFamily="34" charset="-120"/>
              </a:rPr>
              <a:t>ne se ressemblent pas</a:t>
            </a:r>
            <a:endParaRPr lang="en-US" sz="3400" dirty="0"/>
          </a:p>
        </p:txBody>
      </p:sp>
      <p:sp>
        <p:nvSpPr>
          <p:cNvPr id="4" name="Text 2"/>
          <p:cNvSpPr txBox="1"/>
          <p:nvPr/>
        </p:nvSpPr>
        <p:spPr>
          <a:xfrm>
            <a:off x="822960" y="2880360"/>
            <a:ext cx="5669280" cy="1188720"/>
          </a:xfrm>
          <a:prstGeom prst="rect">
            <a:avLst/>
          </a:prstGeom>
          <a:noFill/>
          <a:ln/>
        </p:spPr>
        <p:txBody>
          <a:bodyPr wrap="square" lIns="0" tIns="0" rIns="0" bIns="0" rtlCol="0" anchor="t"/>
          <a:lstStyle/>
          <a:p>
            <a:pPr marL="0" indent="0">
              <a:lnSpc>
                <a:spcPts val="2000"/>
              </a:lnSpc>
              <a:buNone/>
            </a:pPr>
            <a:r>
              <a:rPr lang="en-US" sz="1350" dirty="0">
                <a:solidFill>
                  <a:srgbClr val="1F2A44"/>
                </a:solidFill>
                <a:latin typeface="Calibri" pitchFamily="34" charset="0"/>
                <a:ea typeface="Calibri" pitchFamily="34" charset="-122"/>
                <a:cs typeface="Calibri" pitchFamily="34" charset="-120"/>
              </a:rPr>
              <a:t>La segmentation repose sur le comportement d'achat réel — dépense, fréquence, diversité des catégories — et non sur des règles définies à la main.</a:t>
            </a:r>
            <a:endParaRPr lang="en-US" sz="1350" dirty="0"/>
          </a:p>
        </p:txBody>
      </p:sp>
      <p:sp>
        <p:nvSpPr>
          <p:cNvPr id="5" name="Text 3"/>
          <p:cNvSpPr txBox="1"/>
          <p:nvPr/>
        </p:nvSpPr>
        <p:spPr>
          <a:xfrm>
            <a:off x="822960" y="4251960"/>
            <a:ext cx="5669280" cy="1188720"/>
          </a:xfrm>
          <a:prstGeom prst="rect">
            <a:avLst/>
          </a:prstGeom>
          <a:noFill/>
          <a:ln/>
        </p:spPr>
        <p:txBody>
          <a:bodyPr wrap="square" lIns="0" tIns="0" rIns="0" bIns="0" rtlCol="0" anchor="t"/>
          <a:lstStyle/>
          <a:p>
            <a:pPr marL="0" indent="0">
              <a:lnSpc>
                <a:spcPts val="2000"/>
              </a:lnSpc>
              <a:buNone/>
            </a:pPr>
            <a:r>
              <a:rPr lang="en-US" sz="1350" i="1" dirty="0">
                <a:solidFill>
                  <a:srgbClr val="1B5E55"/>
                </a:solidFill>
                <a:latin typeface="Calibri" pitchFamily="34" charset="0"/>
                <a:ea typeface="Calibri" pitchFamily="34" charset="-122"/>
                <a:cs typeface="Calibri" pitchFamily="34" charset="-120"/>
              </a:rPr>
              <a:t>K-means et classification hiérarchique convergent parfaitement : chaque groupe trouvé par une méthode correspond exactement à un groupe de l'autre.</a:t>
            </a:r>
            <a:endParaRPr lang="en-US" sz="1350" dirty="0"/>
          </a:p>
        </p:txBody>
      </p:sp>
      <p:sp>
        <p:nvSpPr>
          <p:cNvPr id="6" name="Text 4"/>
          <p:cNvSpPr txBox="1"/>
          <p:nvPr/>
        </p:nvSpPr>
        <p:spPr>
          <a:xfrm>
            <a:off x="7406640" y="2240280"/>
            <a:ext cx="2103120" cy="777240"/>
          </a:xfrm>
          <a:prstGeom prst="rect">
            <a:avLst/>
          </a:prstGeom>
          <a:noFill/>
          <a:ln/>
        </p:spPr>
        <p:txBody>
          <a:bodyPr wrap="square" lIns="0" tIns="0" rIns="0" bIns="0" rtlCol="0" anchor="t"/>
          <a:lstStyle/>
          <a:p>
            <a:pPr marL="0" indent="0">
              <a:buNone/>
            </a:pPr>
            <a:r>
              <a:rPr lang="en-US" sz="5800" b="1" dirty="0">
                <a:solidFill>
                  <a:srgbClr val="1F2A44"/>
                </a:solidFill>
                <a:latin typeface="Cambria" pitchFamily="34" charset="0"/>
                <a:ea typeface="Cambria" pitchFamily="34" charset="-122"/>
                <a:cs typeface="Cambria" pitchFamily="34" charset="-120"/>
              </a:rPr>
              <a:t>3</a:t>
            </a:r>
            <a:endParaRPr lang="en-US" sz="5800" dirty="0"/>
          </a:p>
        </p:txBody>
      </p:sp>
      <p:sp>
        <p:nvSpPr>
          <p:cNvPr id="7" name="Text 5"/>
          <p:cNvSpPr txBox="1"/>
          <p:nvPr/>
        </p:nvSpPr>
        <p:spPr>
          <a:xfrm>
            <a:off x="7406640" y="3081528"/>
            <a:ext cx="2103120" cy="685800"/>
          </a:xfrm>
          <a:prstGeom prst="rect">
            <a:avLst/>
          </a:prstGeom>
          <a:noFill/>
          <a:ln/>
        </p:spPr>
        <p:txBody>
          <a:bodyPr wrap="square" lIns="0" tIns="0" rIns="0" bIns="0" rtlCol="0" anchor="t"/>
          <a:lstStyle/>
          <a:p>
            <a:pPr marL="0" indent="0">
              <a:lnSpc>
                <a:spcPts val="1600"/>
              </a:lnSpc>
              <a:buNone/>
            </a:pPr>
            <a:r>
              <a:rPr lang="en-US" sz="1200" dirty="0">
                <a:solidFill>
                  <a:srgbClr val="6B7280"/>
                </a:solidFill>
                <a:latin typeface="Calibri" pitchFamily="34" charset="0"/>
                <a:ea typeface="Calibri" pitchFamily="34" charset="-122"/>
                <a:cs typeface="Calibri" pitchFamily="34" charset="-120"/>
              </a:rPr>
              <a:t>segments retenus</a:t>
            </a:r>
            <a:endParaRPr lang="en-US" sz="1200" dirty="0"/>
          </a:p>
        </p:txBody>
      </p:sp>
      <p:sp>
        <p:nvSpPr>
          <p:cNvPr id="8" name="Text 6"/>
          <p:cNvSpPr txBox="1"/>
          <p:nvPr/>
        </p:nvSpPr>
        <p:spPr>
          <a:xfrm>
            <a:off x="9875520" y="2240280"/>
            <a:ext cx="2103120" cy="777240"/>
          </a:xfrm>
          <a:prstGeom prst="rect">
            <a:avLst/>
          </a:prstGeom>
          <a:noFill/>
          <a:ln/>
        </p:spPr>
        <p:txBody>
          <a:bodyPr wrap="square" lIns="0" tIns="0" rIns="0" bIns="0" rtlCol="0" anchor="t"/>
          <a:lstStyle/>
          <a:p>
            <a:pPr marL="0" indent="0">
              <a:buNone/>
            </a:pPr>
            <a:r>
              <a:rPr lang="en-US" sz="3200" b="1" dirty="0">
                <a:solidFill>
                  <a:srgbClr val="1F2A44"/>
                </a:solidFill>
                <a:latin typeface="Cambria" pitchFamily="34" charset="0"/>
                <a:ea typeface="Cambria" pitchFamily="34" charset="-122"/>
                <a:cs typeface="Cambria" pitchFamily="34" charset="-120"/>
              </a:rPr>
              <a:t>95,5 %</a:t>
            </a:r>
            <a:endParaRPr lang="en-US" sz="3200" dirty="0"/>
          </a:p>
        </p:txBody>
      </p:sp>
      <p:sp>
        <p:nvSpPr>
          <p:cNvPr id="9" name="Text 7"/>
          <p:cNvSpPr txBox="1"/>
          <p:nvPr/>
        </p:nvSpPr>
        <p:spPr>
          <a:xfrm>
            <a:off x="9875520" y="3081528"/>
            <a:ext cx="2103120" cy="685800"/>
          </a:xfrm>
          <a:prstGeom prst="rect">
            <a:avLst/>
          </a:prstGeom>
          <a:noFill/>
          <a:ln/>
        </p:spPr>
        <p:txBody>
          <a:bodyPr wrap="square" lIns="0" tIns="0" rIns="0" bIns="0" rtlCol="0" anchor="t"/>
          <a:lstStyle/>
          <a:p>
            <a:pPr marL="0" indent="0">
              <a:lnSpc>
                <a:spcPts val="1600"/>
              </a:lnSpc>
              <a:buNone/>
            </a:pPr>
            <a:r>
              <a:rPr lang="en-US" sz="1200" dirty="0">
                <a:solidFill>
                  <a:srgbClr val="6B7280"/>
                </a:solidFill>
                <a:latin typeface="Calibri" pitchFamily="34" charset="0"/>
                <a:ea typeface="Calibri" pitchFamily="34" charset="-122"/>
                <a:cs typeface="Calibri" pitchFamily="34" charset="-120"/>
              </a:rPr>
              <a:t>de variance expliquée</a:t>
            </a:r>
            <a:endParaRPr lang="en-US" sz="1200" dirty="0"/>
          </a:p>
          <a:p>
            <a:pPr marL="0" indent="0">
              <a:lnSpc>
                <a:spcPts val="1600"/>
              </a:lnSpc>
              <a:buNone/>
            </a:pPr>
            <a:r>
              <a:rPr lang="en-US" sz="1200" dirty="0">
                <a:solidFill>
                  <a:srgbClr val="6B7280"/>
                </a:solidFill>
                <a:latin typeface="Calibri" pitchFamily="34" charset="0"/>
                <a:ea typeface="Calibri" pitchFamily="34" charset="-122"/>
                <a:cs typeface="Calibri" pitchFamily="34" charset="-120"/>
              </a:rPr>
              <a:t>par deux composantes</a:t>
            </a:r>
            <a:endParaRPr lang="en-US" sz="1200" dirty="0"/>
          </a:p>
        </p:txBody>
      </p:sp>
      <p:sp>
        <p:nvSpPr>
          <p:cNvPr id="10" name="Text 8"/>
          <p:cNvSpPr txBox="1"/>
          <p:nvPr/>
        </p:nvSpPr>
        <p:spPr>
          <a:xfrm>
            <a:off x="7406640" y="4114800"/>
            <a:ext cx="2103120" cy="777240"/>
          </a:xfrm>
          <a:prstGeom prst="rect">
            <a:avLst/>
          </a:prstGeom>
          <a:noFill/>
          <a:ln/>
        </p:spPr>
        <p:txBody>
          <a:bodyPr wrap="square" lIns="0" tIns="0" rIns="0" bIns="0" rtlCol="0" anchor="t"/>
          <a:lstStyle/>
          <a:p>
            <a:pPr marL="0" indent="0">
              <a:buNone/>
            </a:pPr>
            <a:r>
              <a:rPr lang="en-US" sz="5800" b="1" dirty="0">
                <a:solidFill>
                  <a:srgbClr val="1B5E55"/>
                </a:solidFill>
                <a:latin typeface="Cambria" pitchFamily="34" charset="0"/>
                <a:ea typeface="Cambria" pitchFamily="34" charset="-122"/>
                <a:cs typeface="Cambria" pitchFamily="34" charset="-120"/>
              </a:rPr>
              <a:t>5</a:t>
            </a:r>
            <a:endParaRPr lang="en-US" sz="5800" dirty="0"/>
          </a:p>
        </p:txBody>
      </p:sp>
      <p:sp>
        <p:nvSpPr>
          <p:cNvPr id="11" name="Text 9"/>
          <p:cNvSpPr txBox="1"/>
          <p:nvPr/>
        </p:nvSpPr>
        <p:spPr>
          <a:xfrm>
            <a:off x="7406640" y="4956048"/>
            <a:ext cx="2103120" cy="685800"/>
          </a:xfrm>
          <a:prstGeom prst="rect">
            <a:avLst/>
          </a:prstGeom>
          <a:noFill/>
          <a:ln/>
        </p:spPr>
        <p:txBody>
          <a:bodyPr wrap="square" lIns="0" tIns="0" rIns="0" bIns="0" rtlCol="0" anchor="t"/>
          <a:lstStyle/>
          <a:p>
            <a:pPr marL="0" indent="0">
              <a:lnSpc>
                <a:spcPts val="1600"/>
              </a:lnSpc>
              <a:buNone/>
            </a:pPr>
            <a:r>
              <a:rPr lang="en-US" sz="1200" dirty="0">
                <a:solidFill>
                  <a:srgbClr val="6B7280"/>
                </a:solidFill>
                <a:latin typeface="Calibri" pitchFamily="34" charset="0"/>
                <a:ea typeface="Calibri" pitchFamily="34" charset="-122"/>
                <a:cs typeface="Calibri" pitchFamily="34" charset="-120"/>
              </a:rPr>
              <a:t>variables de</a:t>
            </a:r>
            <a:endParaRPr lang="en-US" sz="1200" dirty="0"/>
          </a:p>
          <a:p>
            <a:pPr marL="0" indent="0">
              <a:lnSpc>
                <a:spcPts val="1600"/>
              </a:lnSpc>
              <a:buNone/>
            </a:pPr>
            <a:r>
              <a:rPr lang="en-US" sz="1200" dirty="0">
                <a:solidFill>
                  <a:srgbClr val="6B7280"/>
                </a:solidFill>
                <a:latin typeface="Calibri" pitchFamily="34" charset="0"/>
                <a:ea typeface="Calibri" pitchFamily="34" charset="-122"/>
                <a:cs typeface="Calibri" pitchFamily="34" charset="-120"/>
              </a:rPr>
              <a:t>comportement d'achat</a:t>
            </a:r>
            <a:endParaRPr lang="en-US" sz="1200" dirty="0"/>
          </a:p>
        </p:txBody>
      </p:sp>
      <p:sp>
        <p:nvSpPr>
          <p:cNvPr id="12" name="Text 10"/>
          <p:cNvSpPr txBox="1"/>
          <p:nvPr/>
        </p:nvSpPr>
        <p:spPr>
          <a:xfrm>
            <a:off x="9875520" y="4114800"/>
            <a:ext cx="2103120" cy="777240"/>
          </a:xfrm>
          <a:prstGeom prst="rect">
            <a:avLst/>
          </a:prstGeom>
          <a:noFill/>
          <a:ln/>
        </p:spPr>
        <p:txBody>
          <a:bodyPr wrap="square" lIns="0" tIns="0" rIns="0" bIns="0" rtlCol="0" anchor="t"/>
          <a:lstStyle/>
          <a:p>
            <a:pPr marL="0" indent="0">
              <a:buNone/>
            </a:pPr>
            <a:r>
              <a:rPr lang="en-US" sz="5800" b="1" dirty="0">
                <a:solidFill>
                  <a:srgbClr val="1B5E55"/>
                </a:solidFill>
                <a:latin typeface="Cambria" pitchFamily="34" charset="0"/>
                <a:ea typeface="Cambria" pitchFamily="34" charset="-122"/>
                <a:cs typeface="Cambria" pitchFamily="34" charset="-120"/>
              </a:rPr>
              <a:t>2</a:t>
            </a:r>
            <a:endParaRPr lang="en-US" sz="5800" dirty="0"/>
          </a:p>
        </p:txBody>
      </p:sp>
      <p:sp>
        <p:nvSpPr>
          <p:cNvPr id="13" name="Text 11"/>
          <p:cNvSpPr txBox="1"/>
          <p:nvPr/>
        </p:nvSpPr>
        <p:spPr>
          <a:xfrm>
            <a:off x="9875520" y="4956048"/>
            <a:ext cx="2103120" cy="685800"/>
          </a:xfrm>
          <a:prstGeom prst="rect">
            <a:avLst/>
          </a:prstGeom>
          <a:noFill/>
          <a:ln/>
        </p:spPr>
        <p:txBody>
          <a:bodyPr wrap="square" lIns="0" tIns="0" rIns="0" bIns="0" rtlCol="0" anchor="t"/>
          <a:lstStyle/>
          <a:p>
            <a:pPr marL="0" indent="0">
              <a:lnSpc>
                <a:spcPts val="1600"/>
              </a:lnSpc>
              <a:buNone/>
            </a:pPr>
            <a:r>
              <a:rPr lang="en-US" sz="1200" dirty="0">
                <a:solidFill>
                  <a:srgbClr val="6B7280"/>
                </a:solidFill>
                <a:latin typeface="Calibri" pitchFamily="34" charset="0"/>
                <a:ea typeface="Calibri" pitchFamily="34" charset="-122"/>
                <a:cs typeface="Calibri" pitchFamily="34" charset="-120"/>
              </a:rPr>
              <a:t>méthodes croisées</a:t>
            </a:r>
            <a:endParaRPr lang="en-US" sz="1200" dirty="0"/>
          </a:p>
          <a:p>
            <a:pPr marL="0" indent="0">
              <a:lnSpc>
                <a:spcPts val="1600"/>
              </a:lnSpc>
              <a:buNone/>
            </a:pPr>
            <a:r>
              <a:rPr lang="en-US" sz="1200" dirty="0">
                <a:solidFill>
                  <a:srgbClr val="6B7280"/>
                </a:solidFill>
                <a:latin typeface="Calibri" pitchFamily="34" charset="0"/>
                <a:ea typeface="Calibri" pitchFamily="34" charset="-122"/>
                <a:cs typeface="Calibri" pitchFamily="34" charset="-120"/>
              </a:rPr>
              <a:t>pour validation</a:t>
            </a:r>
            <a:endParaRPr lang="en-US" sz="1200" dirty="0"/>
          </a:p>
        </p:txBody>
      </p:sp>
      <p:sp>
        <p:nvSpPr>
          <p:cNvPr id="14" name="Text 12"/>
          <p:cNvSpPr txBox="1"/>
          <p:nvPr/>
        </p:nvSpPr>
        <p:spPr>
          <a:xfrm>
            <a:off x="10789920" y="626364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822960" y="566928"/>
            <a:ext cx="10515600" cy="274320"/>
          </a:xfrm>
          <a:prstGeom prst="rect">
            <a:avLst/>
          </a:prstGeom>
          <a:noFill/>
          <a:ln/>
        </p:spPr>
        <p:txBody>
          <a:bodyPr wrap="square" lIns="0" tIns="0" rIns="0" bIns="0" rtlCol="0" anchor="ctr"/>
          <a:lstStyle/>
          <a:p>
            <a:pPr marL="0" indent="0">
              <a:buNone/>
            </a:pPr>
            <a:r>
              <a:rPr lang="en-US" sz="1100" b="1" kern="0" spc="240" dirty="0">
                <a:solidFill>
                  <a:srgbClr val="1B5E55"/>
                </a:solidFill>
                <a:latin typeface="Calibri" pitchFamily="34" charset="0"/>
                <a:ea typeface="Calibri" pitchFamily="34" charset="-122"/>
                <a:cs typeface="Calibri" pitchFamily="34" charset="-120"/>
              </a:rPr>
              <a:t>PERSONNE 3 · MODULE M4</a:t>
            </a:r>
            <a:endParaRPr lang="en-US" sz="1100" dirty="0"/>
          </a:p>
        </p:txBody>
      </p:sp>
      <p:sp>
        <p:nvSpPr>
          <p:cNvPr id="3" name="Text 1"/>
          <p:cNvSpPr txBox="1"/>
          <p:nvPr/>
        </p:nvSpPr>
        <p:spPr>
          <a:xfrm>
            <a:off x="822960" y="914400"/>
            <a:ext cx="10515600" cy="868680"/>
          </a:xfrm>
          <a:prstGeom prst="rect">
            <a:avLst/>
          </a:prstGeom>
          <a:noFill/>
          <a:ln/>
        </p:spPr>
        <p:txBody>
          <a:bodyPr wrap="square" lIns="0" tIns="0" rIns="0" bIns="0" rtlCol="0" anchor="t"/>
          <a:lstStyle/>
          <a:p>
            <a:pPr marL="0" indent="0">
              <a:lnSpc>
                <a:spcPts val="4000"/>
              </a:lnSpc>
              <a:buNone/>
            </a:pPr>
            <a:r>
              <a:rPr lang="en-US" sz="3400" b="1" dirty="0">
                <a:solidFill>
                  <a:srgbClr val="1F2A44"/>
                </a:solidFill>
                <a:latin typeface="Cambria" pitchFamily="34" charset="0"/>
                <a:ea typeface="Cambria" pitchFamily="34" charset="-122"/>
                <a:cs typeface="Cambria" pitchFamily="34" charset="-120"/>
              </a:rPr>
              <a:t>Des clusters aux visages</a:t>
            </a:r>
            <a:endParaRPr lang="en-US" sz="3400" dirty="0"/>
          </a:p>
        </p:txBody>
      </p:sp>
      <p:sp>
        <p:nvSpPr>
          <p:cNvPr id="4" name="Shape 2"/>
          <p:cNvSpPr/>
          <p:nvPr/>
        </p:nvSpPr>
        <p:spPr>
          <a:xfrm>
            <a:off x="822960" y="2331720"/>
            <a:ext cx="3200400" cy="3200400"/>
          </a:xfrm>
          <a:prstGeom prst="roundRect">
            <a:avLst>
              <a:gd name="adj" fmla="val 1714"/>
            </a:avLst>
          </a:prstGeom>
          <a:solidFill>
            <a:srgbClr val="F7F9FA"/>
          </a:solidFill>
          <a:ln w="12700">
            <a:solidFill>
              <a:srgbClr val="E8ECEF"/>
            </a:solidFill>
            <a:prstDash val="solid"/>
          </a:ln>
        </p:spPr>
      </p:sp>
      <p:sp>
        <p:nvSpPr>
          <p:cNvPr id="5" name="Text 3"/>
          <p:cNvSpPr txBox="1"/>
          <p:nvPr/>
        </p:nvSpPr>
        <p:spPr>
          <a:xfrm>
            <a:off x="1115568" y="2624328"/>
            <a:ext cx="2615184" cy="457200"/>
          </a:xfrm>
          <a:prstGeom prst="rect">
            <a:avLst/>
          </a:prstGeom>
          <a:noFill/>
          <a:ln/>
        </p:spPr>
        <p:txBody>
          <a:bodyPr wrap="square" lIns="0" tIns="0" rIns="0" bIns="0" rtlCol="0" anchor="t"/>
          <a:lstStyle/>
          <a:p>
            <a:pPr marL="0" indent="0">
              <a:buNone/>
            </a:pPr>
            <a:r>
              <a:rPr lang="en-US" sz="1900" b="1" dirty="0">
                <a:solidFill>
                  <a:srgbClr val="000000"/>
                </a:solidFill>
                <a:latin typeface="Cambria" pitchFamily="34" charset="0"/>
                <a:ea typeface="Cambria" pitchFamily="34" charset="-122"/>
                <a:cs typeface="Cambria" pitchFamily="34" charset="-120"/>
              </a:rPr>
              <a:t>Jules</a:t>
            </a:r>
            <a:endParaRPr lang="en-US" sz="1900" dirty="0"/>
          </a:p>
        </p:txBody>
      </p:sp>
      <p:sp>
        <p:nvSpPr>
          <p:cNvPr id="6" name="Text 4"/>
          <p:cNvSpPr txBox="1"/>
          <p:nvPr/>
        </p:nvSpPr>
        <p:spPr>
          <a:xfrm>
            <a:off x="1115568" y="3136392"/>
            <a:ext cx="2615184" cy="320040"/>
          </a:xfrm>
          <a:prstGeom prst="rect">
            <a:avLst/>
          </a:prstGeom>
          <a:noFill/>
          <a:ln/>
        </p:spPr>
        <p:txBody>
          <a:bodyPr wrap="square" lIns="0" tIns="0" rIns="0" bIns="0" rtlCol="0" anchor="ctr"/>
          <a:lstStyle/>
          <a:p>
            <a:pPr marL="0" indent="0">
              <a:buNone/>
            </a:pPr>
            <a:r>
              <a:rPr lang="en-US" sz="1150" b="1" dirty="0">
                <a:solidFill>
                  <a:srgbClr val="1B5E55"/>
                </a:solidFill>
                <a:latin typeface="Calibri" pitchFamily="34" charset="0"/>
                <a:ea typeface="Calibri" pitchFamily="34" charset="-122"/>
                <a:cs typeface="Calibri" pitchFamily="34" charset="-120"/>
              </a:rPr>
              <a:t>50 % de la base</a:t>
            </a:r>
            <a:endParaRPr lang="en-US" sz="1150" dirty="0"/>
          </a:p>
        </p:txBody>
      </p:sp>
      <p:sp>
        <p:nvSpPr>
          <p:cNvPr id="7" name="Text 5"/>
          <p:cNvSpPr txBox="1"/>
          <p:nvPr/>
        </p:nvSpPr>
        <p:spPr>
          <a:xfrm>
            <a:off x="1115568" y="3657600"/>
            <a:ext cx="2615184" cy="169164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1F2A44"/>
                </a:solidFill>
                <a:latin typeface="Calibri" pitchFamily="34" charset="0"/>
                <a:ea typeface="Calibri" pitchFamily="34" charset="-122"/>
                <a:cs typeface="Calibri" pitchFamily="34" charset="-120"/>
              </a:rPr>
              <a:t>32 ans en moyenne</a:t>
            </a:r>
            <a:endParaRPr lang="en-US" sz="1200" dirty="0"/>
          </a:p>
          <a:p>
            <a:pPr marL="342900" indent="-342900">
              <a:spcAft>
                <a:spcPts val="700"/>
              </a:spcAft>
              <a:buSzPct val="100000"/>
              <a:buChar char="•"/>
            </a:pPr>
            <a:r>
              <a:rPr lang="en-US" sz="1200" dirty="0">
                <a:solidFill>
                  <a:srgbClr val="1F2A44"/>
                </a:solidFill>
                <a:latin typeface="Calibri" pitchFamily="34" charset="0"/>
                <a:ea typeface="Calibri" pitchFamily="34" charset="-122"/>
                <a:cs typeface="Calibri" pitchFamily="34" charset="-120"/>
              </a:rPr>
              <a:t>675 € dépensés</a:t>
            </a:r>
            <a:endParaRPr lang="en-US" sz="1200" dirty="0"/>
          </a:p>
          <a:p>
            <a:pPr marL="342900" indent="-342900">
              <a:spcAft>
                <a:spcPts val="700"/>
              </a:spcAft>
              <a:buSzPct val="100000"/>
              <a:buChar char="•"/>
            </a:pPr>
            <a:r>
              <a:rPr lang="en-US" sz="1200" dirty="0">
                <a:solidFill>
                  <a:srgbClr val="1F2A44"/>
                </a:solidFill>
                <a:latin typeface="Calibri" pitchFamily="34" charset="0"/>
                <a:ea typeface="Calibri" pitchFamily="34" charset="-122"/>
                <a:cs typeface="Calibri" pitchFamily="34" charset="-120"/>
              </a:rPr>
              <a:t>Achat unique</a:t>
            </a:r>
            <a:endParaRPr lang="en-US" sz="1200" dirty="0"/>
          </a:p>
          <a:p>
            <a:pPr marL="342900" indent="-342900">
              <a:spcAft>
                <a:spcPts val="700"/>
              </a:spcAft>
              <a:buSzPct val="100000"/>
              <a:buChar char="•"/>
            </a:pPr>
            <a:r>
              <a:rPr lang="en-US" sz="1200" dirty="0">
                <a:solidFill>
                  <a:srgbClr val="1F2A44"/>
                </a:solidFill>
                <a:latin typeface="Calibri" pitchFamily="34" charset="0"/>
                <a:ea typeface="Calibri" pitchFamily="34" charset="-122"/>
                <a:cs typeface="Calibri" pitchFamily="34" charset="-120"/>
              </a:rPr>
              <a:t>Accessoires · en magasin</a:t>
            </a:r>
            <a:endParaRPr lang="en-US" sz="1200" dirty="0"/>
          </a:p>
        </p:txBody>
      </p:sp>
      <p:sp>
        <p:nvSpPr>
          <p:cNvPr id="8" name="Shape 6"/>
          <p:cNvSpPr/>
          <p:nvPr/>
        </p:nvSpPr>
        <p:spPr>
          <a:xfrm>
            <a:off x="4389120" y="2331720"/>
            <a:ext cx="3200400" cy="3200400"/>
          </a:xfrm>
          <a:prstGeom prst="roundRect">
            <a:avLst>
              <a:gd name="adj" fmla="val 1714"/>
            </a:avLst>
          </a:prstGeom>
          <a:solidFill>
            <a:srgbClr val="F7F9FA"/>
          </a:solidFill>
          <a:ln w="12700">
            <a:solidFill>
              <a:srgbClr val="E8ECEF"/>
            </a:solidFill>
            <a:prstDash val="solid"/>
          </a:ln>
        </p:spPr>
      </p:sp>
      <p:sp>
        <p:nvSpPr>
          <p:cNvPr id="9" name="Text 7"/>
          <p:cNvSpPr txBox="1"/>
          <p:nvPr/>
        </p:nvSpPr>
        <p:spPr>
          <a:xfrm>
            <a:off x="4681728" y="2624328"/>
            <a:ext cx="2615184" cy="457200"/>
          </a:xfrm>
          <a:prstGeom prst="rect">
            <a:avLst/>
          </a:prstGeom>
          <a:noFill/>
          <a:ln/>
        </p:spPr>
        <p:txBody>
          <a:bodyPr wrap="square" lIns="0" tIns="0" rIns="0" bIns="0" rtlCol="0" anchor="t"/>
          <a:lstStyle/>
          <a:p>
            <a:pPr marL="0" indent="0">
              <a:buNone/>
            </a:pPr>
            <a:r>
              <a:rPr lang="en-US" sz="1900" b="1" dirty="0">
                <a:solidFill>
                  <a:srgbClr val="000000"/>
                </a:solidFill>
                <a:latin typeface="Cambria" pitchFamily="34" charset="0"/>
                <a:ea typeface="Cambria" pitchFamily="34" charset="-122"/>
                <a:cs typeface="Cambria" pitchFamily="34" charset="-120"/>
              </a:rPr>
              <a:t>Emma étudiante</a:t>
            </a:r>
            <a:endParaRPr lang="en-US" sz="1900" dirty="0"/>
          </a:p>
        </p:txBody>
      </p:sp>
      <p:sp>
        <p:nvSpPr>
          <p:cNvPr id="10" name="Text 8"/>
          <p:cNvSpPr txBox="1"/>
          <p:nvPr/>
        </p:nvSpPr>
        <p:spPr>
          <a:xfrm>
            <a:off x="4681728" y="3136392"/>
            <a:ext cx="2615184" cy="320040"/>
          </a:xfrm>
          <a:prstGeom prst="rect">
            <a:avLst/>
          </a:prstGeom>
          <a:noFill/>
          <a:ln/>
        </p:spPr>
        <p:txBody>
          <a:bodyPr wrap="square" lIns="0" tIns="0" rIns="0" bIns="0" rtlCol="0" anchor="ctr"/>
          <a:lstStyle/>
          <a:p>
            <a:pPr marL="0" indent="0">
              <a:buNone/>
            </a:pPr>
            <a:r>
              <a:rPr lang="en-US" sz="1150" b="1" dirty="0">
                <a:solidFill>
                  <a:srgbClr val="1B5E55"/>
                </a:solidFill>
                <a:latin typeface="Calibri" pitchFamily="34" charset="0"/>
                <a:ea typeface="Calibri" pitchFamily="34" charset="-122"/>
                <a:cs typeface="Calibri" pitchFamily="34" charset="-120"/>
              </a:rPr>
              <a:t>25 % de la base</a:t>
            </a:r>
            <a:endParaRPr lang="en-US" sz="1150" dirty="0"/>
          </a:p>
        </p:txBody>
      </p:sp>
      <p:sp>
        <p:nvSpPr>
          <p:cNvPr id="11" name="Text 9"/>
          <p:cNvSpPr txBox="1"/>
          <p:nvPr/>
        </p:nvSpPr>
        <p:spPr>
          <a:xfrm>
            <a:off x="4681728" y="3657600"/>
            <a:ext cx="2615184" cy="169164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1F2A44"/>
                </a:solidFill>
                <a:latin typeface="Calibri" pitchFamily="34" charset="0"/>
                <a:ea typeface="Calibri" pitchFamily="34" charset="-122"/>
                <a:cs typeface="Calibri" pitchFamily="34" charset="-120"/>
              </a:rPr>
              <a:t>22 ans</a:t>
            </a:r>
            <a:endParaRPr lang="en-US" sz="1200" dirty="0"/>
          </a:p>
          <a:p>
            <a:pPr marL="342900" indent="-342900">
              <a:spcAft>
                <a:spcPts val="700"/>
              </a:spcAft>
              <a:buSzPct val="100000"/>
              <a:buChar char="•"/>
            </a:pPr>
            <a:r>
              <a:rPr lang="en-US" sz="1200" dirty="0">
                <a:solidFill>
                  <a:srgbClr val="1F2A44"/>
                </a:solidFill>
                <a:latin typeface="Calibri" pitchFamily="34" charset="0"/>
                <a:ea typeface="Calibri" pitchFamily="34" charset="-122"/>
                <a:cs typeface="Calibri" pitchFamily="34" charset="-120"/>
              </a:rPr>
              <a:t>300 € dépensés</a:t>
            </a:r>
            <a:endParaRPr lang="en-US" sz="1200" dirty="0"/>
          </a:p>
          <a:p>
            <a:pPr marL="342900" indent="-342900">
              <a:spcAft>
                <a:spcPts val="700"/>
              </a:spcAft>
              <a:buSzPct val="100000"/>
              <a:buChar char="•"/>
            </a:pPr>
            <a:r>
              <a:rPr lang="en-US" sz="1200" dirty="0">
                <a:solidFill>
                  <a:srgbClr val="1F2A44"/>
                </a:solidFill>
                <a:latin typeface="Calibri" pitchFamily="34" charset="0"/>
                <a:ea typeface="Calibri" pitchFamily="34" charset="-122"/>
                <a:cs typeface="Calibri" pitchFamily="34" charset="-120"/>
              </a:rPr>
              <a:t>Panier le plus élevé</a:t>
            </a:r>
            <a:endParaRPr lang="en-US" sz="1200" dirty="0"/>
          </a:p>
          <a:p>
            <a:pPr marL="342900" indent="-342900">
              <a:spcAft>
                <a:spcPts val="700"/>
              </a:spcAft>
              <a:buSzPct val="100000"/>
              <a:buChar char="•"/>
            </a:pPr>
            <a:r>
              <a:rPr lang="en-US" sz="1200" dirty="0">
                <a:solidFill>
                  <a:srgbClr val="1F2A44"/>
                </a:solidFill>
                <a:latin typeface="Calibri" pitchFamily="34" charset="0"/>
                <a:ea typeface="Calibri" pitchFamily="34" charset="-122"/>
                <a:cs typeface="Calibri" pitchFamily="34" charset="-120"/>
              </a:rPr>
              <a:t>Outerwear · en magasin</a:t>
            </a:r>
            <a:endParaRPr lang="en-US" sz="1200" dirty="0"/>
          </a:p>
        </p:txBody>
      </p:sp>
      <p:sp>
        <p:nvSpPr>
          <p:cNvPr id="12" name="Shape 10"/>
          <p:cNvSpPr/>
          <p:nvPr/>
        </p:nvSpPr>
        <p:spPr>
          <a:xfrm>
            <a:off x="7955280" y="2331720"/>
            <a:ext cx="3200400" cy="3200400"/>
          </a:xfrm>
          <a:prstGeom prst="roundRect">
            <a:avLst>
              <a:gd name="adj" fmla="val 1714"/>
            </a:avLst>
          </a:prstGeom>
          <a:solidFill>
            <a:srgbClr val="F1F6F4"/>
          </a:solidFill>
          <a:ln w="12700">
            <a:solidFill>
              <a:srgbClr val="E8ECEF"/>
            </a:solidFill>
            <a:prstDash val="solid"/>
          </a:ln>
        </p:spPr>
      </p:sp>
      <p:sp>
        <p:nvSpPr>
          <p:cNvPr id="13" name="Text 11"/>
          <p:cNvSpPr txBox="1"/>
          <p:nvPr/>
        </p:nvSpPr>
        <p:spPr>
          <a:xfrm>
            <a:off x="8247888" y="2624328"/>
            <a:ext cx="2615184" cy="457200"/>
          </a:xfrm>
          <a:prstGeom prst="rect">
            <a:avLst/>
          </a:prstGeom>
          <a:noFill/>
          <a:ln/>
        </p:spPr>
        <p:txBody>
          <a:bodyPr wrap="square" lIns="0" tIns="0" rIns="0" bIns="0" rtlCol="0" anchor="t"/>
          <a:lstStyle/>
          <a:p>
            <a:pPr marL="0" indent="0">
              <a:buNone/>
            </a:pPr>
            <a:r>
              <a:rPr lang="en-US" sz="1900" b="1" dirty="0">
                <a:solidFill>
                  <a:srgbClr val="000000"/>
                </a:solidFill>
                <a:latin typeface="Cambria" pitchFamily="34" charset="0"/>
                <a:ea typeface="Cambria" pitchFamily="34" charset="-122"/>
                <a:cs typeface="Cambria" pitchFamily="34" charset="-120"/>
              </a:rPr>
              <a:t>Emma en ligne</a:t>
            </a:r>
            <a:endParaRPr lang="en-US" sz="1900" dirty="0"/>
          </a:p>
        </p:txBody>
      </p:sp>
      <p:sp>
        <p:nvSpPr>
          <p:cNvPr id="14" name="Text 12"/>
          <p:cNvSpPr txBox="1"/>
          <p:nvPr/>
        </p:nvSpPr>
        <p:spPr>
          <a:xfrm>
            <a:off x="8247888" y="3136392"/>
            <a:ext cx="2615184" cy="320040"/>
          </a:xfrm>
          <a:prstGeom prst="rect">
            <a:avLst/>
          </a:prstGeom>
          <a:noFill/>
          <a:ln/>
        </p:spPr>
        <p:txBody>
          <a:bodyPr wrap="square" lIns="0" tIns="0" rIns="0" bIns="0" rtlCol="0" anchor="ctr"/>
          <a:lstStyle/>
          <a:p>
            <a:pPr marL="0" indent="0">
              <a:buNone/>
            </a:pPr>
            <a:r>
              <a:rPr lang="en-US" sz="1150" b="1" dirty="0">
                <a:solidFill>
                  <a:srgbClr val="1B5E55"/>
                </a:solidFill>
                <a:latin typeface="Calibri" pitchFamily="34" charset="0"/>
                <a:ea typeface="Calibri" pitchFamily="34" charset="-122"/>
                <a:cs typeface="Calibri" pitchFamily="34" charset="-120"/>
              </a:rPr>
              <a:t>25 % de la base</a:t>
            </a:r>
            <a:endParaRPr lang="en-US" sz="1150" dirty="0"/>
          </a:p>
        </p:txBody>
      </p:sp>
      <p:sp>
        <p:nvSpPr>
          <p:cNvPr id="15" name="Text 13"/>
          <p:cNvSpPr txBox="1"/>
          <p:nvPr/>
        </p:nvSpPr>
        <p:spPr>
          <a:xfrm>
            <a:off x="8247888" y="3657600"/>
            <a:ext cx="2615184" cy="169164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1F2A44"/>
                </a:solidFill>
                <a:latin typeface="Calibri" pitchFamily="34" charset="0"/>
                <a:ea typeface="Calibri" pitchFamily="34" charset="-122"/>
                <a:cs typeface="Calibri" pitchFamily="34" charset="-120"/>
              </a:rPr>
              <a:t>28 ans</a:t>
            </a:r>
            <a:endParaRPr lang="en-US" sz="1200" dirty="0"/>
          </a:p>
          <a:p>
            <a:pPr marL="342900" indent="-342900">
              <a:spcAft>
                <a:spcPts val="700"/>
              </a:spcAft>
              <a:buSzPct val="100000"/>
              <a:buChar char="•"/>
            </a:pPr>
            <a:r>
              <a:rPr lang="en-US" sz="1200" dirty="0">
                <a:solidFill>
                  <a:srgbClr val="1F2A44"/>
                </a:solidFill>
                <a:latin typeface="Calibri" pitchFamily="34" charset="0"/>
                <a:ea typeface="Calibri" pitchFamily="34" charset="-122"/>
                <a:cs typeface="Calibri" pitchFamily="34" charset="-120"/>
              </a:rPr>
              <a:t>500 € dépensés</a:t>
            </a:r>
            <a:endParaRPr lang="en-US" sz="1200" dirty="0"/>
          </a:p>
          <a:p>
            <a:pPr marL="342900" indent="-342900">
              <a:spcAft>
                <a:spcPts val="700"/>
              </a:spcAft>
              <a:buSzPct val="100000"/>
              <a:buChar char="•"/>
            </a:pPr>
            <a:r>
              <a:rPr lang="en-US" sz="1200" dirty="0">
                <a:solidFill>
                  <a:srgbClr val="1F2A44"/>
                </a:solidFill>
                <a:latin typeface="Calibri" pitchFamily="34" charset="0"/>
                <a:ea typeface="Calibri" pitchFamily="34" charset="-122"/>
                <a:cs typeface="Calibri" pitchFamily="34" charset="-120"/>
              </a:rPr>
              <a:t>Seule à revenir acheter</a:t>
            </a:r>
            <a:endParaRPr lang="en-US" sz="1200" dirty="0"/>
          </a:p>
          <a:p>
            <a:pPr marL="342900" indent="-342900">
              <a:spcAft>
                <a:spcPts val="700"/>
              </a:spcAft>
              <a:buSzPct val="100000"/>
              <a:buChar char="•"/>
            </a:pPr>
            <a:r>
              <a:rPr lang="en-US" sz="1200" dirty="0">
                <a:solidFill>
                  <a:srgbClr val="1F2A44"/>
                </a:solidFill>
                <a:latin typeface="Calibri" pitchFamily="34" charset="0"/>
                <a:ea typeface="Calibri" pitchFamily="34" charset="-122"/>
                <a:cs typeface="Calibri" pitchFamily="34" charset="-120"/>
              </a:rPr>
              <a:t>Clothing · en ligne</a:t>
            </a:r>
            <a:endParaRPr lang="en-US" sz="1200" dirty="0"/>
          </a:p>
        </p:txBody>
      </p:sp>
      <p:sp>
        <p:nvSpPr>
          <p:cNvPr id="16" name="Text 14"/>
          <p:cNvSpPr txBox="1"/>
          <p:nvPr/>
        </p:nvSpPr>
        <p:spPr>
          <a:xfrm>
            <a:off x="822960" y="5760720"/>
            <a:ext cx="10058400" cy="457200"/>
          </a:xfrm>
          <a:prstGeom prst="rect">
            <a:avLst/>
          </a:prstGeom>
          <a:noFill/>
          <a:ln/>
        </p:spPr>
        <p:txBody>
          <a:bodyPr wrap="square" lIns="0" tIns="0" rIns="0" bIns="0" rtlCol="0" anchor="ctr"/>
          <a:lstStyle/>
          <a:p>
            <a:pPr marL="0" indent="0">
              <a:buNone/>
            </a:pPr>
            <a:r>
              <a:rPr lang="en-US" sz="1300" i="1" dirty="0">
                <a:solidFill>
                  <a:srgbClr val="1B5E55"/>
                </a:solidFill>
                <a:latin typeface="Calibri" pitchFamily="34" charset="0"/>
                <a:ea typeface="Calibri" pitchFamily="34" charset="-122"/>
                <a:cs typeface="Calibri" pitchFamily="34" charset="-120"/>
              </a:rPr>
              <a:t>Un seul segment revient acheter. Les deux autres n'ont, pour l'instant, aucune raison de revenir.</a:t>
            </a:r>
            <a:endParaRPr lang="en-US" sz="1300" dirty="0"/>
          </a:p>
        </p:txBody>
      </p:sp>
      <p:sp>
        <p:nvSpPr>
          <p:cNvPr id="17" name="Text 15"/>
          <p:cNvSpPr txBox="1"/>
          <p:nvPr/>
        </p:nvSpPr>
        <p:spPr>
          <a:xfrm>
            <a:off x="10789920" y="626364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822960" y="566928"/>
            <a:ext cx="10515600" cy="274320"/>
          </a:xfrm>
          <a:prstGeom prst="rect">
            <a:avLst/>
          </a:prstGeom>
          <a:noFill/>
          <a:ln/>
        </p:spPr>
        <p:txBody>
          <a:bodyPr wrap="square" lIns="0" tIns="0" rIns="0" bIns="0" rtlCol="0" anchor="ctr"/>
          <a:lstStyle/>
          <a:p>
            <a:pPr marL="0" indent="0">
              <a:buNone/>
            </a:pPr>
            <a:r>
              <a:rPr lang="en-US" sz="1100" b="1" kern="0" spc="240" dirty="0">
                <a:solidFill>
                  <a:srgbClr val="1B5E55"/>
                </a:solidFill>
                <a:latin typeface="Calibri" pitchFamily="34" charset="0"/>
                <a:ea typeface="Calibri" pitchFamily="34" charset="-122"/>
                <a:cs typeface="Calibri" pitchFamily="34" charset="-120"/>
              </a:rPr>
              <a:t>PERSONNE 4 · MODULE M5</a:t>
            </a:r>
            <a:endParaRPr lang="en-US" sz="1100" dirty="0"/>
          </a:p>
        </p:txBody>
      </p:sp>
      <p:sp>
        <p:nvSpPr>
          <p:cNvPr id="3" name="Text 1"/>
          <p:cNvSpPr txBox="1"/>
          <p:nvPr/>
        </p:nvSpPr>
        <p:spPr>
          <a:xfrm>
            <a:off x="822960" y="914400"/>
            <a:ext cx="4754880" cy="1554480"/>
          </a:xfrm>
          <a:prstGeom prst="rect">
            <a:avLst/>
          </a:prstGeom>
          <a:noFill/>
          <a:ln/>
        </p:spPr>
        <p:txBody>
          <a:bodyPr wrap="square" lIns="0" tIns="0" rIns="0" bIns="0" rtlCol="0" anchor="t"/>
          <a:lstStyle/>
          <a:p>
            <a:pPr marL="0" indent="0">
              <a:lnSpc>
                <a:spcPts val="4000"/>
              </a:lnSpc>
              <a:buNone/>
            </a:pPr>
            <a:r>
              <a:rPr lang="en-US" sz="3400" b="1" dirty="0">
                <a:solidFill>
                  <a:srgbClr val="1F2A44"/>
                </a:solidFill>
                <a:latin typeface="Cambria" pitchFamily="34" charset="0"/>
                <a:ea typeface="Cambria" pitchFamily="34" charset="-122"/>
                <a:cs typeface="Cambria" pitchFamily="34" charset="-120"/>
              </a:rPr>
              <a:t>Tous les canaux</a:t>
            </a:r>
            <a:endParaRPr lang="en-US" sz="3400" dirty="0"/>
          </a:p>
          <a:p>
            <a:pPr marL="0" indent="0">
              <a:lnSpc>
                <a:spcPts val="4000"/>
              </a:lnSpc>
              <a:buNone/>
            </a:pPr>
            <a:r>
              <a:rPr lang="en-US" sz="3400" b="1" dirty="0">
                <a:solidFill>
                  <a:srgbClr val="1F2A44"/>
                </a:solidFill>
                <a:latin typeface="Cambria" pitchFamily="34" charset="0"/>
                <a:ea typeface="Cambria" pitchFamily="34" charset="-122"/>
                <a:cs typeface="Cambria" pitchFamily="34" charset="-120"/>
              </a:rPr>
              <a:t>ne se valent pas</a:t>
            </a:r>
            <a:endParaRPr lang="en-US" sz="3400" dirty="0"/>
          </a:p>
        </p:txBody>
      </p:sp>
      <p:sp>
        <p:nvSpPr>
          <p:cNvPr id="4" name="Text 2"/>
          <p:cNvSpPr txBox="1"/>
          <p:nvPr/>
        </p:nvSpPr>
        <p:spPr>
          <a:xfrm>
            <a:off x="822960" y="2880360"/>
            <a:ext cx="4206240" cy="1463040"/>
          </a:xfrm>
          <a:prstGeom prst="rect">
            <a:avLst/>
          </a:prstGeom>
          <a:noFill/>
          <a:ln/>
        </p:spPr>
        <p:txBody>
          <a:bodyPr wrap="square" lIns="0" tIns="0" rIns="0" bIns="0" rtlCol="0" anchor="t"/>
          <a:lstStyle/>
          <a:p>
            <a:pPr marL="0" indent="0">
              <a:lnSpc>
                <a:spcPts val="1900"/>
              </a:lnSpc>
              <a:buNone/>
            </a:pPr>
            <a:r>
              <a:rPr lang="en-US" sz="1300" dirty="0">
                <a:solidFill>
                  <a:srgbClr val="1F2A44"/>
                </a:solidFill>
                <a:latin typeface="Calibri" pitchFamily="34" charset="0"/>
                <a:ea typeface="Calibri" pitchFamily="34" charset="-122"/>
                <a:cs typeface="Calibri" pitchFamily="34" charset="-120"/>
              </a:rPr>
              <a:t>Cinq campagnes évaluées sur cinq canaux, avec les indicateurs standards du marketing digital : CTR, taux de conversion, coût par clic et coût par acquisition.</a:t>
            </a:r>
            <a:endParaRPr lang="en-US" sz="1300" dirty="0"/>
          </a:p>
        </p:txBody>
      </p:sp>
      <p:sp>
        <p:nvSpPr>
          <p:cNvPr id="5" name="Text 3"/>
          <p:cNvSpPr txBox="1"/>
          <p:nvPr/>
        </p:nvSpPr>
        <p:spPr>
          <a:xfrm>
            <a:off x="822960" y="4572000"/>
            <a:ext cx="4206240" cy="914400"/>
          </a:xfrm>
          <a:prstGeom prst="rect">
            <a:avLst/>
          </a:prstGeom>
          <a:noFill/>
          <a:ln/>
        </p:spPr>
        <p:txBody>
          <a:bodyPr wrap="square" lIns="0" tIns="0" rIns="0" bIns="0" rtlCol="0" anchor="t"/>
          <a:lstStyle/>
          <a:p>
            <a:pPr marL="0" indent="0">
              <a:lnSpc>
                <a:spcPts val="1600"/>
              </a:lnSpc>
              <a:buNone/>
            </a:pPr>
            <a:r>
              <a:rPr lang="en-US" sz="1150" i="1" dirty="0">
                <a:solidFill>
                  <a:srgbClr val="B8860B"/>
                </a:solidFill>
                <a:latin typeface="Calibri" pitchFamily="34" charset="0"/>
                <a:ea typeface="Calibri" pitchFamily="34" charset="-122"/>
                <a:cs typeface="Calibri" pitchFamily="34" charset="-120"/>
              </a:rPr>
              <a:t>Hypothèse documentée : 50 € de revenu par conversion, à valider sur des données réelles.</a:t>
            </a:r>
            <a:endParaRPr lang="en-US" sz="1150" dirty="0"/>
          </a:p>
        </p:txBody>
      </p:sp>
      <p:graphicFrame>
        <p:nvGraphicFramePr>
          <p:cNvPr id="6" name="Chart 0"/>
          <p:cNvGraphicFramePr/>
          <p:nvPr/>
        </p:nvGraphicFramePr>
        <p:xfrm>
          <a:off x="5577840" y="2057400"/>
          <a:ext cx="576072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10789920" y="626364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2A44"/>
        </a:solidFill>
        <a:effectLst/>
      </p:bgPr>
    </p:bg>
    <p:spTree>
      <p:nvGrpSpPr>
        <p:cNvPr id="1" name=""/>
        <p:cNvGrpSpPr/>
        <p:nvPr/>
      </p:nvGrpSpPr>
      <p:grpSpPr>
        <a:xfrm>
          <a:off x="0" y="0"/>
          <a:ext cx="0" cy="0"/>
          <a:chOff x="0" y="0"/>
          <a:chExt cx="0" cy="0"/>
        </a:xfrm>
      </p:grpSpPr>
      <p:sp>
        <p:nvSpPr>
          <p:cNvPr id="2" name="Text 0"/>
          <p:cNvSpPr txBox="1"/>
          <p:nvPr/>
        </p:nvSpPr>
        <p:spPr>
          <a:xfrm>
            <a:off x="822960" y="868680"/>
            <a:ext cx="10515600" cy="274320"/>
          </a:xfrm>
          <a:prstGeom prst="rect">
            <a:avLst/>
          </a:prstGeom>
          <a:noFill/>
          <a:ln/>
        </p:spPr>
        <p:txBody>
          <a:bodyPr wrap="square" lIns="0" tIns="0" rIns="0" bIns="0" rtlCol="0" anchor="ctr"/>
          <a:lstStyle/>
          <a:p>
            <a:pPr marL="0" indent="0">
              <a:buNone/>
            </a:pPr>
            <a:r>
              <a:rPr lang="en-US" sz="1100" b="1" kern="0" spc="240" dirty="0">
                <a:solidFill>
                  <a:srgbClr val="8FB8AE"/>
                </a:solidFill>
                <a:latin typeface="Calibri" pitchFamily="34" charset="0"/>
                <a:ea typeface="Calibri" pitchFamily="34" charset="-122"/>
                <a:cs typeface="Calibri" pitchFamily="34" charset="-120"/>
              </a:rPr>
              <a:t>LE CONSTAT CENTRAL</a:t>
            </a:r>
            <a:endParaRPr lang="en-US" sz="1100" dirty="0"/>
          </a:p>
        </p:txBody>
      </p:sp>
      <p:sp>
        <p:nvSpPr>
          <p:cNvPr id="3" name="Text 1"/>
          <p:cNvSpPr txBox="1"/>
          <p:nvPr/>
        </p:nvSpPr>
        <p:spPr>
          <a:xfrm>
            <a:off x="822960" y="1417320"/>
            <a:ext cx="9601200" cy="1645920"/>
          </a:xfrm>
          <a:prstGeom prst="rect">
            <a:avLst/>
          </a:prstGeom>
          <a:noFill/>
          <a:ln/>
        </p:spPr>
        <p:txBody>
          <a:bodyPr wrap="square" lIns="0" tIns="0" rIns="0" bIns="0" rtlCol="0" anchor="t"/>
          <a:lstStyle/>
          <a:p>
            <a:pPr marL="0" indent="0">
              <a:lnSpc>
                <a:spcPts val="4600"/>
              </a:lnSpc>
              <a:buNone/>
            </a:pPr>
            <a:r>
              <a:rPr lang="en-US" sz="3600" b="1" dirty="0">
                <a:solidFill>
                  <a:srgbClr val="FFFFFF"/>
                </a:solidFill>
                <a:latin typeface="Cambria" pitchFamily="34" charset="0"/>
                <a:ea typeface="Cambria" pitchFamily="34" charset="-122"/>
                <a:cs typeface="Cambria" pitchFamily="34" charset="-120"/>
              </a:rPr>
              <a:t>Le canal préféré des clients</a:t>
            </a:r>
            <a:endParaRPr lang="en-US" sz="3600" dirty="0"/>
          </a:p>
          <a:p>
            <a:pPr marL="0" indent="0">
              <a:lnSpc>
                <a:spcPts val="4600"/>
              </a:lnSpc>
              <a:buNone/>
            </a:pPr>
            <a:r>
              <a:rPr lang="en-US" sz="3600" b="1" dirty="0">
                <a:solidFill>
                  <a:srgbClr val="FFFFFF"/>
                </a:solidFill>
                <a:latin typeface="Cambria" pitchFamily="34" charset="0"/>
                <a:ea typeface="Cambria" pitchFamily="34" charset="-122"/>
                <a:cs typeface="Cambria" pitchFamily="34" charset="-120"/>
              </a:rPr>
              <a:t>est le moins rentable</a:t>
            </a:r>
            <a:endParaRPr lang="en-US" sz="3600" dirty="0"/>
          </a:p>
        </p:txBody>
      </p:sp>
      <p:sp>
        <p:nvSpPr>
          <p:cNvPr id="4" name="Text 2"/>
          <p:cNvSpPr txBox="1"/>
          <p:nvPr/>
        </p:nvSpPr>
        <p:spPr>
          <a:xfrm>
            <a:off x="822960" y="3566160"/>
            <a:ext cx="2926080" cy="777240"/>
          </a:xfrm>
          <a:prstGeom prst="rect">
            <a:avLst/>
          </a:prstGeom>
          <a:noFill/>
          <a:ln/>
        </p:spPr>
        <p:txBody>
          <a:bodyPr wrap="square" lIns="0" tIns="0" rIns="0" bIns="0" rtlCol="0" anchor="t"/>
          <a:lstStyle/>
          <a:p>
            <a:pPr marL="0" indent="0">
              <a:buNone/>
            </a:pPr>
            <a:r>
              <a:rPr lang="en-US" sz="5600" b="1" dirty="0">
                <a:solidFill>
                  <a:srgbClr val="FFFFFF"/>
                </a:solidFill>
                <a:latin typeface="Cambria" pitchFamily="34" charset="0"/>
                <a:ea typeface="Cambria" pitchFamily="34" charset="-122"/>
                <a:cs typeface="Cambria" pitchFamily="34" charset="-120"/>
              </a:rPr>
              <a:t>75 %</a:t>
            </a:r>
            <a:endParaRPr lang="en-US" sz="5600" dirty="0"/>
          </a:p>
        </p:txBody>
      </p:sp>
      <p:sp>
        <p:nvSpPr>
          <p:cNvPr id="5" name="Text 3"/>
          <p:cNvSpPr txBox="1"/>
          <p:nvPr/>
        </p:nvSpPr>
        <p:spPr>
          <a:xfrm>
            <a:off x="822960" y="4407408"/>
            <a:ext cx="2926080" cy="685800"/>
          </a:xfrm>
          <a:prstGeom prst="rect">
            <a:avLst/>
          </a:prstGeom>
          <a:noFill/>
          <a:ln/>
        </p:spPr>
        <p:txBody>
          <a:bodyPr wrap="square" lIns="0" tIns="0" rIns="0" bIns="0" rtlCol="0" anchor="t"/>
          <a:lstStyle/>
          <a:p>
            <a:pPr marL="0" indent="0">
              <a:lnSpc>
                <a:spcPts val="1600"/>
              </a:lnSpc>
              <a:buNone/>
            </a:pPr>
            <a:r>
              <a:rPr lang="en-US" sz="1200" dirty="0">
                <a:solidFill>
                  <a:srgbClr val="C9D4D1"/>
                </a:solidFill>
                <a:latin typeface="Calibri" pitchFamily="34" charset="0"/>
                <a:ea typeface="Calibri" pitchFamily="34" charset="-122"/>
                <a:cs typeface="Calibri" pitchFamily="34" charset="-120"/>
              </a:rPr>
              <a:t>des clients préfèrent</a:t>
            </a:r>
            <a:endParaRPr lang="en-US" sz="1200" dirty="0"/>
          </a:p>
          <a:p>
            <a:pPr marL="0" indent="0">
              <a:lnSpc>
                <a:spcPts val="1600"/>
              </a:lnSpc>
              <a:buNone/>
            </a:pPr>
            <a:r>
              <a:rPr lang="en-US" sz="1200" dirty="0">
                <a:solidFill>
                  <a:srgbClr val="C9D4D1"/>
                </a:solidFill>
                <a:latin typeface="Calibri" pitchFamily="34" charset="0"/>
                <a:ea typeface="Calibri" pitchFamily="34" charset="-122"/>
                <a:cs typeface="Calibri" pitchFamily="34" charset="-120"/>
              </a:rPr>
              <a:t>le magasin</a:t>
            </a:r>
            <a:endParaRPr lang="en-US" sz="1200" dirty="0"/>
          </a:p>
        </p:txBody>
      </p:sp>
      <p:sp>
        <p:nvSpPr>
          <p:cNvPr id="6" name="Text 4"/>
          <p:cNvSpPr txBox="1"/>
          <p:nvPr/>
        </p:nvSpPr>
        <p:spPr>
          <a:xfrm>
            <a:off x="4389120" y="3566160"/>
            <a:ext cx="2926080" cy="777240"/>
          </a:xfrm>
          <a:prstGeom prst="rect">
            <a:avLst/>
          </a:prstGeom>
          <a:noFill/>
          <a:ln/>
        </p:spPr>
        <p:txBody>
          <a:bodyPr wrap="square" lIns="0" tIns="0" rIns="0" bIns="0" rtlCol="0" anchor="t"/>
          <a:lstStyle/>
          <a:p>
            <a:pPr marL="0" indent="0">
              <a:buNone/>
            </a:pPr>
            <a:r>
              <a:rPr lang="en-US" sz="5600" b="1" dirty="0">
                <a:solidFill>
                  <a:srgbClr val="E8B4B0"/>
                </a:solidFill>
                <a:latin typeface="Cambria" pitchFamily="34" charset="0"/>
                <a:ea typeface="Cambria" pitchFamily="34" charset="-122"/>
                <a:cs typeface="Cambria" pitchFamily="34" charset="-120"/>
              </a:rPr>
              <a:t>233 %</a:t>
            </a:r>
            <a:endParaRPr lang="en-US" sz="5600" dirty="0"/>
          </a:p>
        </p:txBody>
      </p:sp>
      <p:sp>
        <p:nvSpPr>
          <p:cNvPr id="7" name="Text 5"/>
          <p:cNvSpPr txBox="1"/>
          <p:nvPr/>
        </p:nvSpPr>
        <p:spPr>
          <a:xfrm>
            <a:off x="4389120" y="4407408"/>
            <a:ext cx="2926080" cy="685800"/>
          </a:xfrm>
          <a:prstGeom prst="rect">
            <a:avLst/>
          </a:prstGeom>
          <a:noFill/>
          <a:ln/>
        </p:spPr>
        <p:txBody>
          <a:bodyPr wrap="square" lIns="0" tIns="0" rIns="0" bIns="0" rtlCol="0" anchor="t"/>
          <a:lstStyle/>
          <a:p>
            <a:pPr marL="0" indent="0">
              <a:lnSpc>
                <a:spcPts val="1600"/>
              </a:lnSpc>
              <a:buNone/>
            </a:pPr>
            <a:r>
              <a:rPr lang="en-US" sz="1200" dirty="0">
                <a:solidFill>
                  <a:srgbClr val="C9D4D1"/>
                </a:solidFill>
                <a:latin typeface="Calibri" pitchFamily="34" charset="0"/>
                <a:ea typeface="Calibri" pitchFamily="34" charset="-122"/>
                <a:cs typeface="Calibri" pitchFamily="34" charset="-120"/>
              </a:rPr>
              <a:t>de ROI pour</a:t>
            </a:r>
            <a:endParaRPr lang="en-US" sz="1200" dirty="0"/>
          </a:p>
          <a:p>
            <a:pPr marL="0" indent="0">
              <a:lnSpc>
                <a:spcPts val="1600"/>
              </a:lnSpc>
              <a:buNone/>
            </a:pPr>
            <a:r>
              <a:rPr lang="en-US" sz="1200" dirty="0">
                <a:solidFill>
                  <a:srgbClr val="C9D4D1"/>
                </a:solidFill>
                <a:latin typeface="Calibri" pitchFamily="34" charset="0"/>
                <a:ea typeface="Calibri" pitchFamily="34" charset="-122"/>
                <a:cs typeface="Calibri" pitchFamily="34" charset="-120"/>
              </a:rPr>
              <a:t>ce canal</a:t>
            </a:r>
            <a:endParaRPr lang="en-US" sz="1200" dirty="0"/>
          </a:p>
        </p:txBody>
      </p:sp>
      <p:sp>
        <p:nvSpPr>
          <p:cNvPr id="8" name="Text 6"/>
          <p:cNvSpPr txBox="1"/>
          <p:nvPr/>
        </p:nvSpPr>
        <p:spPr>
          <a:xfrm>
            <a:off x="7955280" y="3566160"/>
            <a:ext cx="3108960" cy="777240"/>
          </a:xfrm>
          <a:prstGeom prst="rect">
            <a:avLst/>
          </a:prstGeom>
          <a:noFill/>
          <a:ln/>
        </p:spPr>
        <p:txBody>
          <a:bodyPr wrap="square" lIns="0" tIns="0" rIns="0" bIns="0" rtlCol="0" anchor="t"/>
          <a:lstStyle/>
          <a:p>
            <a:pPr marL="0" indent="0">
              <a:buNone/>
            </a:pPr>
            <a:r>
              <a:rPr lang="en-US" sz="5600" b="1" dirty="0">
                <a:solidFill>
                  <a:srgbClr val="8FD4C1"/>
                </a:solidFill>
                <a:latin typeface="Cambria" pitchFamily="34" charset="0"/>
                <a:ea typeface="Cambria" pitchFamily="34" charset="-122"/>
                <a:cs typeface="Cambria" pitchFamily="34" charset="-120"/>
              </a:rPr>
              <a:t>650 %</a:t>
            </a:r>
            <a:endParaRPr lang="en-US" sz="5600" dirty="0"/>
          </a:p>
        </p:txBody>
      </p:sp>
      <p:sp>
        <p:nvSpPr>
          <p:cNvPr id="9" name="Text 7"/>
          <p:cNvSpPr txBox="1"/>
          <p:nvPr/>
        </p:nvSpPr>
        <p:spPr>
          <a:xfrm>
            <a:off x="7955280" y="4407408"/>
            <a:ext cx="3108960" cy="685800"/>
          </a:xfrm>
          <a:prstGeom prst="rect">
            <a:avLst/>
          </a:prstGeom>
          <a:noFill/>
          <a:ln/>
        </p:spPr>
        <p:txBody>
          <a:bodyPr wrap="square" lIns="0" tIns="0" rIns="0" bIns="0" rtlCol="0" anchor="t"/>
          <a:lstStyle/>
          <a:p>
            <a:pPr marL="0" indent="0">
              <a:lnSpc>
                <a:spcPts val="1600"/>
              </a:lnSpc>
              <a:buNone/>
            </a:pPr>
            <a:r>
              <a:rPr lang="en-US" sz="1200" dirty="0">
                <a:solidFill>
                  <a:srgbClr val="C9D4D1"/>
                </a:solidFill>
                <a:latin typeface="Calibri" pitchFamily="34" charset="0"/>
                <a:ea typeface="Calibri" pitchFamily="34" charset="-122"/>
                <a:cs typeface="Calibri" pitchFamily="34" charset="-120"/>
              </a:rPr>
              <a:t>de ROI pour le canal</a:t>
            </a:r>
            <a:endParaRPr lang="en-US" sz="1200" dirty="0"/>
          </a:p>
          <a:p>
            <a:pPr marL="0" indent="0">
              <a:lnSpc>
                <a:spcPts val="1600"/>
              </a:lnSpc>
              <a:buNone/>
            </a:pPr>
            <a:r>
              <a:rPr lang="en-US" sz="1200" dirty="0">
                <a:solidFill>
                  <a:srgbClr val="C9D4D1"/>
                </a:solidFill>
                <a:latin typeface="Calibri" pitchFamily="34" charset="0"/>
                <a:ea typeface="Calibri" pitchFamily="34" charset="-122"/>
                <a:cs typeface="Calibri" pitchFamily="34" charset="-120"/>
              </a:rPr>
              <a:t>en ligne, 2,8 fois plus</a:t>
            </a:r>
            <a:endParaRPr lang="en-US" sz="1200" dirty="0"/>
          </a:p>
        </p:txBody>
      </p:sp>
      <p:sp>
        <p:nvSpPr>
          <p:cNvPr id="10" name="Text 8"/>
          <p:cNvSpPr txBox="1"/>
          <p:nvPr/>
        </p:nvSpPr>
        <p:spPr>
          <a:xfrm>
            <a:off x="822960" y="5715000"/>
            <a:ext cx="10058400" cy="457200"/>
          </a:xfrm>
          <a:prstGeom prst="rect">
            <a:avLst/>
          </a:prstGeom>
          <a:noFill/>
          <a:ln/>
        </p:spPr>
        <p:txBody>
          <a:bodyPr wrap="square" lIns="0" tIns="0" rIns="0" bIns="0" rtlCol="0" anchor="ctr"/>
          <a:lstStyle/>
          <a:p>
            <a:pPr marL="0" indent="0">
              <a:buNone/>
            </a:pPr>
            <a:r>
              <a:rPr lang="en-US" sz="1400" i="1" dirty="0">
                <a:solidFill>
                  <a:srgbClr val="C9D4D1"/>
                </a:solidFill>
                <a:latin typeface="Calibri" pitchFamily="34" charset="0"/>
                <a:ea typeface="Calibri" pitchFamily="34" charset="-122"/>
                <a:cs typeface="Calibri" pitchFamily="34" charset="-120"/>
              </a:rPr>
              <a:t>Préférence client et rentabilité pointent dans deux directions opposées.</a:t>
            </a:r>
            <a:endParaRPr lang="en-US" sz="1400" dirty="0"/>
          </a:p>
        </p:txBody>
      </p:sp>
      <p:sp>
        <p:nvSpPr>
          <p:cNvPr id="11" name="Text 9"/>
          <p:cNvSpPr txBox="1"/>
          <p:nvPr/>
        </p:nvSpPr>
        <p:spPr>
          <a:xfrm>
            <a:off x="10789920" y="626364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822960" y="566928"/>
            <a:ext cx="10515600" cy="274320"/>
          </a:xfrm>
          <a:prstGeom prst="rect">
            <a:avLst/>
          </a:prstGeom>
          <a:noFill/>
          <a:ln/>
        </p:spPr>
        <p:txBody>
          <a:bodyPr wrap="square" lIns="0" tIns="0" rIns="0" bIns="0" rtlCol="0" anchor="ctr"/>
          <a:lstStyle/>
          <a:p>
            <a:pPr marL="0" indent="0">
              <a:buNone/>
            </a:pPr>
            <a:r>
              <a:rPr lang="en-US" sz="1100" b="1" kern="0" spc="240" dirty="0">
                <a:solidFill>
                  <a:srgbClr val="1B5E55"/>
                </a:solidFill>
                <a:latin typeface="Calibri" pitchFamily="34" charset="0"/>
                <a:ea typeface="Calibri" pitchFamily="34" charset="-122"/>
                <a:cs typeface="Calibri" pitchFamily="34" charset="-120"/>
              </a:rPr>
              <a:t>PERSONNE 5 · MODULE M6</a:t>
            </a:r>
            <a:endParaRPr lang="en-US" sz="1100" dirty="0"/>
          </a:p>
        </p:txBody>
      </p:sp>
      <p:sp>
        <p:nvSpPr>
          <p:cNvPr id="3" name="Text 1"/>
          <p:cNvSpPr txBox="1"/>
          <p:nvPr/>
        </p:nvSpPr>
        <p:spPr>
          <a:xfrm>
            <a:off x="822960" y="914400"/>
            <a:ext cx="10515600" cy="1554480"/>
          </a:xfrm>
          <a:prstGeom prst="rect">
            <a:avLst/>
          </a:prstGeom>
          <a:noFill/>
          <a:ln/>
        </p:spPr>
        <p:txBody>
          <a:bodyPr wrap="square" lIns="0" tIns="0" rIns="0" bIns="0" rtlCol="0" anchor="t"/>
          <a:lstStyle/>
          <a:p>
            <a:pPr marL="0" indent="0">
              <a:lnSpc>
                <a:spcPts val="4000"/>
              </a:lnSpc>
              <a:buNone/>
            </a:pPr>
            <a:r>
              <a:rPr lang="en-US" sz="3400" b="1" dirty="0">
                <a:solidFill>
                  <a:srgbClr val="1F2A44"/>
                </a:solidFill>
                <a:latin typeface="Cambria" pitchFamily="34" charset="0"/>
                <a:ea typeface="Cambria" pitchFamily="34" charset="-122"/>
                <a:cs typeface="Cambria" pitchFamily="34" charset="-120"/>
              </a:rPr>
              <a:t>Anticiper le départ</a:t>
            </a:r>
            <a:endParaRPr lang="en-US" sz="3400" dirty="0"/>
          </a:p>
          <a:p>
            <a:pPr marL="0" indent="0">
              <a:lnSpc>
                <a:spcPts val="4000"/>
              </a:lnSpc>
              <a:buNone/>
            </a:pPr>
            <a:r>
              <a:rPr lang="en-US" sz="3400" b="1" dirty="0">
                <a:solidFill>
                  <a:srgbClr val="1F2A44"/>
                </a:solidFill>
                <a:latin typeface="Cambria" pitchFamily="34" charset="0"/>
                <a:ea typeface="Cambria" pitchFamily="34" charset="-122"/>
                <a:cs typeface="Cambria" pitchFamily="34" charset="-120"/>
              </a:rPr>
              <a:t>plutôt que le constater</a:t>
            </a:r>
            <a:endParaRPr lang="en-US" sz="3400" dirty="0"/>
          </a:p>
        </p:txBody>
      </p:sp>
      <p:sp>
        <p:nvSpPr>
          <p:cNvPr id="4" name="Shape 2"/>
          <p:cNvSpPr/>
          <p:nvPr/>
        </p:nvSpPr>
        <p:spPr>
          <a:xfrm>
            <a:off x="822960" y="2788920"/>
            <a:ext cx="3200400" cy="2377440"/>
          </a:xfrm>
          <a:prstGeom prst="roundRect">
            <a:avLst>
              <a:gd name="adj" fmla="val 2308"/>
            </a:avLst>
          </a:prstGeom>
          <a:solidFill>
            <a:srgbClr val="F7F9FA"/>
          </a:solidFill>
          <a:ln w="12700">
            <a:solidFill>
              <a:srgbClr val="E8ECEF"/>
            </a:solidFill>
            <a:prstDash val="solid"/>
          </a:ln>
        </p:spPr>
      </p:sp>
      <p:sp>
        <p:nvSpPr>
          <p:cNvPr id="5" name="Text 3"/>
          <p:cNvSpPr txBox="1"/>
          <p:nvPr/>
        </p:nvSpPr>
        <p:spPr>
          <a:xfrm>
            <a:off x="1097280" y="3044952"/>
            <a:ext cx="2651760" cy="457200"/>
          </a:xfrm>
          <a:prstGeom prst="rect">
            <a:avLst/>
          </a:prstGeom>
          <a:noFill/>
          <a:ln/>
        </p:spPr>
        <p:txBody>
          <a:bodyPr wrap="square" lIns="0" tIns="0" rIns="0" bIns="0" rtlCol="0" anchor="t"/>
          <a:lstStyle/>
          <a:p>
            <a:pPr marL="0" indent="0">
              <a:buNone/>
            </a:pPr>
            <a:r>
              <a:rPr lang="en-US" sz="1400" b="1" dirty="0">
                <a:solidFill>
                  <a:srgbClr val="1B5E55"/>
                </a:solidFill>
                <a:latin typeface="Calibri" pitchFamily="34" charset="0"/>
                <a:ea typeface="Calibri" pitchFamily="34" charset="-122"/>
                <a:cs typeface="Calibri" pitchFamily="34" charset="-120"/>
              </a:rPr>
              <a:t>Une cible à construire</a:t>
            </a:r>
            <a:endParaRPr lang="en-US" sz="1400" dirty="0"/>
          </a:p>
        </p:txBody>
      </p:sp>
      <p:sp>
        <p:nvSpPr>
          <p:cNvPr id="6" name="Text 4"/>
          <p:cNvSpPr txBox="1"/>
          <p:nvPr/>
        </p:nvSpPr>
        <p:spPr>
          <a:xfrm>
            <a:off x="1097280" y="3566160"/>
            <a:ext cx="2651760" cy="1325880"/>
          </a:xfrm>
          <a:prstGeom prst="rect">
            <a:avLst/>
          </a:prstGeom>
          <a:noFill/>
          <a:ln/>
        </p:spPr>
        <p:txBody>
          <a:bodyPr wrap="square" lIns="0" tIns="0" rIns="0" bIns="0" rtlCol="0" anchor="t"/>
          <a:lstStyle/>
          <a:p>
            <a:pPr marL="0" indent="0">
              <a:lnSpc>
                <a:spcPts val="1600"/>
              </a:lnSpc>
              <a:buNone/>
            </a:pPr>
            <a:r>
              <a:rPr lang="en-US" sz="1150" dirty="0">
                <a:solidFill>
                  <a:srgbClr val="1F2A44"/>
                </a:solidFill>
                <a:latin typeface="Calibri" pitchFamily="34" charset="0"/>
                <a:ea typeface="Calibri" pitchFamily="34" charset="-122"/>
                <a:cs typeface="Calibri" pitchFamily="34" charset="-120"/>
              </a:rPr>
              <a:t>Aucune étiquette de churn n'existe dans les données : un client est considéré comme perdu au-delà du 75e percentile de récence.</a:t>
            </a:r>
            <a:endParaRPr lang="en-US" sz="1150" dirty="0"/>
          </a:p>
        </p:txBody>
      </p:sp>
      <p:sp>
        <p:nvSpPr>
          <p:cNvPr id="7" name="Shape 5"/>
          <p:cNvSpPr/>
          <p:nvPr/>
        </p:nvSpPr>
        <p:spPr>
          <a:xfrm>
            <a:off x="4297680" y="2788920"/>
            <a:ext cx="3200400" cy="2377440"/>
          </a:xfrm>
          <a:prstGeom prst="roundRect">
            <a:avLst>
              <a:gd name="adj" fmla="val 2308"/>
            </a:avLst>
          </a:prstGeom>
          <a:solidFill>
            <a:srgbClr val="F7F9FA"/>
          </a:solidFill>
          <a:ln w="12700">
            <a:solidFill>
              <a:srgbClr val="E8ECEF"/>
            </a:solidFill>
            <a:prstDash val="solid"/>
          </a:ln>
        </p:spPr>
      </p:sp>
      <p:sp>
        <p:nvSpPr>
          <p:cNvPr id="8" name="Text 6"/>
          <p:cNvSpPr txBox="1"/>
          <p:nvPr/>
        </p:nvSpPr>
        <p:spPr>
          <a:xfrm>
            <a:off x="4572000" y="3044952"/>
            <a:ext cx="2651760" cy="457200"/>
          </a:xfrm>
          <a:prstGeom prst="rect">
            <a:avLst/>
          </a:prstGeom>
          <a:noFill/>
          <a:ln/>
        </p:spPr>
        <p:txBody>
          <a:bodyPr wrap="square" lIns="0" tIns="0" rIns="0" bIns="0" rtlCol="0" anchor="t"/>
          <a:lstStyle/>
          <a:p>
            <a:pPr marL="0" indent="0">
              <a:buNone/>
            </a:pPr>
            <a:r>
              <a:rPr lang="en-US" sz="1400" b="1" dirty="0">
                <a:solidFill>
                  <a:srgbClr val="1B5E55"/>
                </a:solidFill>
                <a:latin typeface="Calibri" pitchFamily="34" charset="0"/>
                <a:ea typeface="Calibri" pitchFamily="34" charset="-122"/>
                <a:cs typeface="Calibri" pitchFamily="34" charset="-120"/>
              </a:rPr>
              <a:t>Trois modèles comparés</a:t>
            </a:r>
            <a:endParaRPr lang="en-US" sz="1400" dirty="0"/>
          </a:p>
        </p:txBody>
      </p:sp>
      <p:sp>
        <p:nvSpPr>
          <p:cNvPr id="9" name="Text 7"/>
          <p:cNvSpPr txBox="1"/>
          <p:nvPr/>
        </p:nvSpPr>
        <p:spPr>
          <a:xfrm>
            <a:off x="4572000" y="3566160"/>
            <a:ext cx="2651760" cy="1325880"/>
          </a:xfrm>
          <a:prstGeom prst="rect">
            <a:avLst/>
          </a:prstGeom>
          <a:noFill/>
          <a:ln/>
        </p:spPr>
        <p:txBody>
          <a:bodyPr wrap="square" lIns="0" tIns="0" rIns="0" bIns="0" rtlCol="0" anchor="t"/>
          <a:lstStyle/>
          <a:p>
            <a:pPr marL="0" indent="0">
              <a:lnSpc>
                <a:spcPts val="1600"/>
              </a:lnSpc>
              <a:buNone/>
            </a:pPr>
            <a:r>
              <a:rPr lang="en-US" sz="1150" dirty="0">
                <a:solidFill>
                  <a:srgbClr val="1F2A44"/>
                </a:solidFill>
                <a:latin typeface="Calibri" pitchFamily="34" charset="0"/>
                <a:ea typeface="Calibri" pitchFamily="34" charset="-122"/>
                <a:cs typeface="Calibri" pitchFamily="34" charset="-120"/>
              </a:rPr>
              <a:t>Régression logistique, Random Forest et XGBoost, avec séparation train/test avant tout réglage.</a:t>
            </a:r>
            <a:endParaRPr lang="en-US" sz="1150" dirty="0"/>
          </a:p>
        </p:txBody>
      </p:sp>
      <p:sp>
        <p:nvSpPr>
          <p:cNvPr id="10" name="Shape 8"/>
          <p:cNvSpPr/>
          <p:nvPr/>
        </p:nvSpPr>
        <p:spPr>
          <a:xfrm>
            <a:off x="7772400" y="2788920"/>
            <a:ext cx="3200400" cy="2377440"/>
          </a:xfrm>
          <a:prstGeom prst="roundRect">
            <a:avLst>
              <a:gd name="adj" fmla="val 2308"/>
            </a:avLst>
          </a:prstGeom>
          <a:solidFill>
            <a:srgbClr val="F7F9FA"/>
          </a:solidFill>
          <a:ln w="12700">
            <a:solidFill>
              <a:srgbClr val="E8ECEF"/>
            </a:solidFill>
            <a:prstDash val="solid"/>
          </a:ln>
        </p:spPr>
      </p:sp>
      <p:sp>
        <p:nvSpPr>
          <p:cNvPr id="11" name="Text 9"/>
          <p:cNvSpPr txBox="1"/>
          <p:nvPr/>
        </p:nvSpPr>
        <p:spPr>
          <a:xfrm>
            <a:off x="8046720" y="3044952"/>
            <a:ext cx="2651760" cy="457200"/>
          </a:xfrm>
          <a:prstGeom prst="rect">
            <a:avLst/>
          </a:prstGeom>
          <a:noFill/>
          <a:ln/>
        </p:spPr>
        <p:txBody>
          <a:bodyPr wrap="square" lIns="0" tIns="0" rIns="0" bIns="0" rtlCol="0" anchor="t"/>
          <a:lstStyle/>
          <a:p>
            <a:pPr marL="0" indent="0">
              <a:buNone/>
            </a:pPr>
            <a:r>
              <a:rPr lang="en-US" sz="1400" b="1" dirty="0">
                <a:solidFill>
                  <a:srgbClr val="1B5E55"/>
                </a:solidFill>
                <a:latin typeface="Calibri" pitchFamily="34" charset="0"/>
                <a:ea typeface="Calibri" pitchFamily="34" charset="-122"/>
                <a:cs typeface="Calibri" pitchFamily="34" charset="-120"/>
              </a:rPr>
              <a:t>Le rappel avant tout</a:t>
            </a:r>
            <a:endParaRPr lang="en-US" sz="1400" dirty="0"/>
          </a:p>
        </p:txBody>
      </p:sp>
      <p:sp>
        <p:nvSpPr>
          <p:cNvPr id="12" name="Text 10"/>
          <p:cNvSpPr txBox="1"/>
          <p:nvPr/>
        </p:nvSpPr>
        <p:spPr>
          <a:xfrm>
            <a:off x="8046720" y="3566160"/>
            <a:ext cx="2651760" cy="1325880"/>
          </a:xfrm>
          <a:prstGeom prst="rect">
            <a:avLst/>
          </a:prstGeom>
          <a:noFill/>
          <a:ln/>
        </p:spPr>
        <p:txBody>
          <a:bodyPr wrap="square" lIns="0" tIns="0" rIns="0" bIns="0" rtlCol="0" anchor="t"/>
          <a:lstStyle/>
          <a:p>
            <a:pPr marL="0" indent="0">
              <a:lnSpc>
                <a:spcPts val="1600"/>
              </a:lnSpc>
              <a:buNone/>
            </a:pPr>
            <a:r>
              <a:rPr lang="en-US" sz="1150" dirty="0">
                <a:solidFill>
                  <a:srgbClr val="1F2A44"/>
                </a:solidFill>
                <a:latin typeface="Calibri" pitchFamily="34" charset="0"/>
                <a:ea typeface="Calibri" pitchFamily="34" charset="-122"/>
                <a:cs typeface="Calibri" pitchFamily="34" charset="-120"/>
              </a:rPr>
              <a:t>Manquer un client à risque coûte plus cher qu'une fausse alerte : la métrique prioritaire est le rappel.</a:t>
            </a:r>
            <a:endParaRPr lang="en-US" sz="1150" dirty="0"/>
          </a:p>
        </p:txBody>
      </p:sp>
      <p:sp>
        <p:nvSpPr>
          <p:cNvPr id="13" name="Text 11"/>
          <p:cNvSpPr txBox="1"/>
          <p:nvPr/>
        </p:nvSpPr>
        <p:spPr>
          <a:xfrm>
            <a:off x="822960" y="5440680"/>
            <a:ext cx="10241280" cy="457200"/>
          </a:xfrm>
          <a:prstGeom prst="rect">
            <a:avLst/>
          </a:prstGeom>
          <a:noFill/>
          <a:ln/>
        </p:spPr>
        <p:txBody>
          <a:bodyPr wrap="square" lIns="0" tIns="0" rIns="0" bIns="0" rtlCol="0" anchor="ctr"/>
          <a:lstStyle/>
          <a:p>
            <a:pPr marL="0" indent="0">
              <a:buNone/>
            </a:pPr>
            <a:r>
              <a:rPr lang="en-US" sz="1250" i="1" dirty="0">
                <a:solidFill>
                  <a:srgbClr val="1B5E55"/>
                </a:solidFill>
                <a:latin typeface="Calibri" pitchFamily="34" charset="0"/>
                <a:ea typeface="Calibri" pitchFamily="34" charset="-122"/>
                <a:cs typeface="Calibri" pitchFamily="34" charset="-120"/>
              </a:rPr>
              <a:t>La récence est exclue des variables explicatives : elle définit la cible, l'inclure fausserait le modèle.</a:t>
            </a:r>
            <a:endParaRPr lang="en-US" sz="1250" dirty="0"/>
          </a:p>
        </p:txBody>
      </p:sp>
      <p:sp>
        <p:nvSpPr>
          <p:cNvPr id="14" name="Text 12"/>
          <p:cNvSpPr txBox="1"/>
          <p:nvPr/>
        </p:nvSpPr>
        <p:spPr>
          <a:xfrm>
            <a:off x="10789920" y="626364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822960" y="566928"/>
            <a:ext cx="10515600" cy="274320"/>
          </a:xfrm>
          <a:prstGeom prst="rect">
            <a:avLst/>
          </a:prstGeom>
          <a:noFill/>
          <a:ln/>
        </p:spPr>
        <p:txBody>
          <a:bodyPr wrap="square" lIns="0" tIns="0" rIns="0" bIns="0" rtlCol="0" anchor="ctr"/>
          <a:lstStyle/>
          <a:p>
            <a:pPr marL="0" indent="0">
              <a:buNone/>
            </a:pPr>
            <a:r>
              <a:rPr lang="en-US" sz="1100" b="1" kern="0" spc="240" dirty="0">
                <a:solidFill>
                  <a:srgbClr val="1B5E55"/>
                </a:solidFill>
                <a:latin typeface="Calibri" pitchFamily="34" charset="0"/>
                <a:ea typeface="Calibri" pitchFamily="34" charset="-122"/>
                <a:cs typeface="Calibri" pitchFamily="34" charset="-120"/>
              </a:rPr>
              <a:t>RÉSULTAT MARQUANT</a:t>
            </a:r>
            <a:endParaRPr lang="en-US" sz="1100" dirty="0"/>
          </a:p>
        </p:txBody>
      </p:sp>
      <p:sp>
        <p:nvSpPr>
          <p:cNvPr id="3" name="Text 1"/>
          <p:cNvSpPr txBox="1"/>
          <p:nvPr/>
        </p:nvSpPr>
        <p:spPr>
          <a:xfrm>
            <a:off x="822960" y="914400"/>
            <a:ext cx="5943600" cy="1554480"/>
          </a:xfrm>
          <a:prstGeom prst="rect">
            <a:avLst/>
          </a:prstGeom>
          <a:noFill/>
          <a:ln/>
        </p:spPr>
        <p:txBody>
          <a:bodyPr wrap="square" lIns="0" tIns="0" rIns="0" bIns="0" rtlCol="0" anchor="t"/>
          <a:lstStyle/>
          <a:p>
            <a:pPr marL="0" indent="0">
              <a:lnSpc>
                <a:spcPts val="4000"/>
              </a:lnSpc>
              <a:buNone/>
            </a:pPr>
            <a:r>
              <a:rPr lang="en-US" sz="3400" b="1" dirty="0">
                <a:solidFill>
                  <a:srgbClr val="1F2A44"/>
                </a:solidFill>
                <a:latin typeface="Cambria" pitchFamily="34" charset="0"/>
                <a:ea typeface="Cambria" pitchFamily="34" charset="-122"/>
                <a:cs typeface="Cambria" pitchFamily="34" charset="-120"/>
              </a:rPr>
              <a:t>Le client que personne</a:t>
            </a:r>
            <a:endParaRPr lang="en-US" sz="3400" dirty="0"/>
          </a:p>
          <a:p>
            <a:pPr marL="0" indent="0">
              <a:lnSpc>
                <a:spcPts val="4000"/>
              </a:lnSpc>
              <a:buNone/>
            </a:pPr>
            <a:r>
              <a:rPr lang="en-US" sz="3400" b="1" dirty="0">
                <a:solidFill>
                  <a:srgbClr val="1F2A44"/>
                </a:solidFill>
                <a:latin typeface="Cambria" pitchFamily="34" charset="0"/>
                <a:ea typeface="Cambria" pitchFamily="34" charset="-122"/>
                <a:cs typeface="Cambria" pitchFamily="34" charset="-120"/>
              </a:rPr>
              <a:t>ne surveillait</a:t>
            </a:r>
            <a:endParaRPr lang="en-US" sz="3400" dirty="0"/>
          </a:p>
        </p:txBody>
      </p:sp>
      <p:sp>
        <p:nvSpPr>
          <p:cNvPr id="4" name="Text 2"/>
          <p:cNvSpPr txBox="1"/>
          <p:nvPr/>
        </p:nvSpPr>
        <p:spPr>
          <a:xfrm>
            <a:off x="822960" y="2926080"/>
            <a:ext cx="5577840" cy="1188720"/>
          </a:xfrm>
          <a:prstGeom prst="rect">
            <a:avLst/>
          </a:prstGeom>
          <a:noFill/>
          <a:ln/>
        </p:spPr>
        <p:txBody>
          <a:bodyPr wrap="square" lIns="0" tIns="0" rIns="0" bIns="0" rtlCol="0" anchor="t"/>
          <a:lstStyle/>
          <a:p>
            <a:pPr marL="0" indent="0">
              <a:lnSpc>
                <a:spcPts val="2100"/>
              </a:lnSpc>
              <a:buNone/>
            </a:pPr>
            <a:r>
              <a:rPr lang="en-US" sz="1400" dirty="0">
                <a:solidFill>
                  <a:srgbClr val="1F2A44"/>
                </a:solidFill>
                <a:latin typeface="Calibri" pitchFamily="34" charset="0"/>
                <a:ea typeface="Calibri" pitchFamily="34" charset="-122"/>
                <a:cs typeface="Calibri" pitchFamily="34" charset="-120"/>
              </a:rPr>
              <a:t>Un client affiche la probabilité de départ la plus élevée de tout le portefeuille — et n'apparaît dans aucun segment.</a:t>
            </a:r>
            <a:endParaRPr lang="en-US" sz="1400" dirty="0"/>
          </a:p>
        </p:txBody>
      </p:sp>
      <p:sp>
        <p:nvSpPr>
          <p:cNvPr id="5" name="Text 3"/>
          <p:cNvSpPr txBox="1"/>
          <p:nvPr/>
        </p:nvSpPr>
        <p:spPr>
          <a:xfrm>
            <a:off x="822960" y="4343400"/>
            <a:ext cx="5577840" cy="1188720"/>
          </a:xfrm>
          <a:prstGeom prst="rect">
            <a:avLst/>
          </a:prstGeom>
          <a:noFill/>
          <a:ln/>
        </p:spPr>
        <p:txBody>
          <a:bodyPr wrap="square" lIns="0" tIns="0" rIns="0" bIns="0" rtlCol="0" anchor="t"/>
          <a:lstStyle/>
          <a:p>
            <a:pPr marL="0" indent="0">
              <a:lnSpc>
                <a:spcPts val="2100"/>
              </a:lnSpc>
              <a:buNone/>
            </a:pPr>
            <a:r>
              <a:rPr lang="en-US" sz="1400" i="1" dirty="0">
                <a:solidFill>
                  <a:srgbClr val="1B5E55"/>
                </a:solidFill>
                <a:latin typeface="Calibri" pitchFamily="34" charset="0"/>
                <a:ea typeface="Calibri" pitchFamily="34" charset="-122"/>
                <a:cs typeface="Calibri" pitchFamily="34" charset="-120"/>
              </a:rPr>
              <a:t>Invisible pour la segmentation, visible pour le modèle. Seul le croisement des deux analyses le fait apparaître.</a:t>
            </a:r>
            <a:endParaRPr lang="en-US" sz="1400" dirty="0"/>
          </a:p>
        </p:txBody>
      </p:sp>
      <p:sp>
        <p:nvSpPr>
          <p:cNvPr id="6" name="Shape 4"/>
          <p:cNvSpPr/>
          <p:nvPr/>
        </p:nvSpPr>
        <p:spPr>
          <a:xfrm>
            <a:off x="7223760" y="2286000"/>
            <a:ext cx="4114800" cy="3200400"/>
          </a:xfrm>
          <a:prstGeom prst="roundRect">
            <a:avLst>
              <a:gd name="adj" fmla="val 1714"/>
            </a:avLst>
          </a:prstGeom>
          <a:solidFill>
            <a:srgbClr val="FBF2F1"/>
          </a:solidFill>
          <a:ln w="12700">
            <a:solidFill>
              <a:srgbClr val="E8C9C6"/>
            </a:solidFill>
            <a:prstDash val="solid"/>
          </a:ln>
        </p:spPr>
      </p:sp>
      <p:sp>
        <p:nvSpPr>
          <p:cNvPr id="7" name="Text 5"/>
          <p:cNvSpPr txBox="1"/>
          <p:nvPr/>
        </p:nvSpPr>
        <p:spPr>
          <a:xfrm>
            <a:off x="7498080" y="2743200"/>
            <a:ext cx="3566160" cy="1188720"/>
          </a:xfrm>
          <a:prstGeom prst="rect">
            <a:avLst/>
          </a:prstGeom>
          <a:noFill/>
          <a:ln/>
        </p:spPr>
        <p:txBody>
          <a:bodyPr wrap="square" lIns="0" tIns="0" rIns="0" bIns="0" rtlCol="0" anchor="ctr"/>
          <a:lstStyle/>
          <a:p>
            <a:pPr marL="0" indent="0" algn="ctr">
              <a:buNone/>
            </a:pPr>
            <a:r>
              <a:rPr lang="en-US" sz="6800" b="1" dirty="0">
                <a:solidFill>
                  <a:srgbClr val="B3261E"/>
                </a:solidFill>
                <a:latin typeface="Cambria" pitchFamily="34" charset="0"/>
                <a:ea typeface="Cambria" pitchFamily="34" charset="-122"/>
                <a:cs typeface="Cambria" pitchFamily="34" charset="-120"/>
              </a:rPr>
              <a:t>86,8 %</a:t>
            </a:r>
            <a:endParaRPr lang="en-US" sz="6800" dirty="0"/>
          </a:p>
        </p:txBody>
      </p:sp>
      <p:sp>
        <p:nvSpPr>
          <p:cNvPr id="8" name="Text 6"/>
          <p:cNvSpPr txBox="1"/>
          <p:nvPr/>
        </p:nvSpPr>
        <p:spPr>
          <a:xfrm>
            <a:off x="7498080" y="3977640"/>
            <a:ext cx="3566160" cy="365760"/>
          </a:xfrm>
          <a:prstGeom prst="rect">
            <a:avLst/>
          </a:prstGeom>
          <a:noFill/>
          <a:ln/>
        </p:spPr>
        <p:txBody>
          <a:bodyPr wrap="square" lIns="0" tIns="0" rIns="0" bIns="0" rtlCol="0" anchor="ctr"/>
          <a:lstStyle/>
          <a:p>
            <a:pPr marL="0" indent="0" algn="ctr">
              <a:buNone/>
            </a:pPr>
            <a:r>
              <a:rPr lang="en-US" sz="1300" dirty="0">
                <a:solidFill>
                  <a:srgbClr val="1F2A44"/>
                </a:solidFill>
                <a:latin typeface="Calibri" pitchFamily="34" charset="0"/>
                <a:ea typeface="Calibri" pitchFamily="34" charset="-122"/>
                <a:cs typeface="Calibri" pitchFamily="34" charset="-120"/>
              </a:rPr>
              <a:t>de probabilité de départ</a:t>
            </a:r>
            <a:endParaRPr lang="en-US" sz="1300" dirty="0"/>
          </a:p>
        </p:txBody>
      </p:sp>
      <p:sp>
        <p:nvSpPr>
          <p:cNvPr id="9" name="Text 7"/>
          <p:cNvSpPr txBox="1"/>
          <p:nvPr/>
        </p:nvSpPr>
        <p:spPr>
          <a:xfrm>
            <a:off x="7498080" y="4526280"/>
            <a:ext cx="3566160" cy="548640"/>
          </a:xfrm>
          <a:prstGeom prst="rect">
            <a:avLst/>
          </a:prstGeom>
          <a:noFill/>
          <a:ln/>
        </p:spPr>
        <p:txBody>
          <a:bodyPr wrap="square" lIns="0" tIns="0" rIns="0" bIns="0" rtlCol="0" anchor="ctr"/>
          <a:lstStyle/>
          <a:p>
            <a:pPr marL="0" indent="0" algn="ctr">
              <a:lnSpc>
                <a:spcPts val="1500"/>
              </a:lnSpc>
              <a:buNone/>
            </a:pPr>
            <a:r>
              <a:rPr lang="en-US" sz="1150" b="1" dirty="0">
                <a:solidFill>
                  <a:srgbClr val="B3261E"/>
                </a:solidFill>
                <a:latin typeface="Calibri" pitchFamily="34" charset="0"/>
                <a:ea typeface="Calibri" pitchFamily="34" charset="-122"/>
                <a:cs typeface="Calibri" pitchFamily="34" charset="-120"/>
              </a:rPr>
              <a:t>Client non classé · Action immédiate</a:t>
            </a:r>
            <a:endParaRPr lang="en-US" sz="1150" dirty="0"/>
          </a:p>
        </p:txBody>
      </p:sp>
      <p:sp>
        <p:nvSpPr>
          <p:cNvPr id="10" name="Text 8"/>
          <p:cNvSpPr txBox="1"/>
          <p:nvPr/>
        </p:nvSpPr>
        <p:spPr>
          <a:xfrm>
            <a:off x="10789920" y="626364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822960" y="566928"/>
            <a:ext cx="10515600" cy="274320"/>
          </a:xfrm>
          <a:prstGeom prst="rect">
            <a:avLst/>
          </a:prstGeom>
          <a:noFill/>
          <a:ln/>
        </p:spPr>
        <p:txBody>
          <a:bodyPr wrap="square" lIns="0" tIns="0" rIns="0" bIns="0" rtlCol="0" anchor="ctr"/>
          <a:lstStyle/>
          <a:p>
            <a:pPr marL="0" indent="0">
              <a:buNone/>
            </a:pPr>
            <a:r>
              <a:rPr lang="en-US" sz="1100" b="1" kern="0" spc="240" dirty="0">
                <a:solidFill>
                  <a:srgbClr val="1B5E55"/>
                </a:solidFill>
                <a:latin typeface="Calibri" pitchFamily="34" charset="0"/>
                <a:ea typeface="Calibri" pitchFamily="34" charset="-122"/>
                <a:cs typeface="Calibri" pitchFamily="34" charset="-120"/>
              </a:rPr>
              <a:t>PERSONNE 6 · MODULE M7</a:t>
            </a:r>
            <a:endParaRPr lang="en-US" sz="1100" dirty="0"/>
          </a:p>
        </p:txBody>
      </p:sp>
      <p:sp>
        <p:nvSpPr>
          <p:cNvPr id="3" name="Text 1"/>
          <p:cNvSpPr txBox="1"/>
          <p:nvPr/>
        </p:nvSpPr>
        <p:spPr>
          <a:xfrm>
            <a:off x="822960" y="914400"/>
            <a:ext cx="10515600" cy="868680"/>
          </a:xfrm>
          <a:prstGeom prst="rect">
            <a:avLst/>
          </a:prstGeom>
          <a:noFill/>
          <a:ln/>
        </p:spPr>
        <p:txBody>
          <a:bodyPr wrap="square" lIns="0" tIns="0" rIns="0" bIns="0" rtlCol="0" anchor="t"/>
          <a:lstStyle/>
          <a:p>
            <a:pPr marL="0" indent="0">
              <a:lnSpc>
                <a:spcPts val="4000"/>
              </a:lnSpc>
              <a:buNone/>
            </a:pPr>
            <a:r>
              <a:rPr lang="en-US" sz="3400" b="1" dirty="0">
                <a:solidFill>
                  <a:srgbClr val="1F2A44"/>
                </a:solidFill>
                <a:latin typeface="Cambria" pitchFamily="34" charset="0"/>
                <a:ea typeface="Cambria" pitchFamily="34" charset="-122"/>
                <a:cs typeface="Cambria" pitchFamily="34" charset="-120"/>
              </a:rPr>
              <a:t>De l'analyse à la décision</a:t>
            </a:r>
            <a:endParaRPr lang="en-US" sz="3400" dirty="0"/>
          </a:p>
        </p:txBody>
      </p:sp>
      <p:sp>
        <p:nvSpPr>
          <p:cNvPr id="4" name="Shape 2"/>
          <p:cNvSpPr/>
          <p:nvPr/>
        </p:nvSpPr>
        <p:spPr>
          <a:xfrm>
            <a:off x="822960" y="2587752"/>
            <a:ext cx="146304" cy="146304"/>
          </a:xfrm>
          <a:prstGeom prst="ellipse">
            <a:avLst/>
          </a:prstGeom>
          <a:solidFill>
            <a:srgbClr val="B3261E"/>
          </a:solidFill>
          <a:ln/>
        </p:spPr>
      </p:sp>
      <p:sp>
        <p:nvSpPr>
          <p:cNvPr id="5" name="Text 3"/>
          <p:cNvSpPr txBox="1"/>
          <p:nvPr/>
        </p:nvSpPr>
        <p:spPr>
          <a:xfrm>
            <a:off x="1170432" y="2432304"/>
            <a:ext cx="2286000" cy="384048"/>
          </a:xfrm>
          <a:prstGeom prst="rect">
            <a:avLst/>
          </a:prstGeom>
          <a:noFill/>
          <a:ln/>
        </p:spPr>
        <p:txBody>
          <a:bodyPr wrap="square" lIns="0" tIns="0" rIns="0" bIns="0" rtlCol="0" anchor="ctr"/>
          <a:lstStyle/>
          <a:p>
            <a:pPr marL="0" indent="0">
              <a:buNone/>
            </a:pPr>
            <a:r>
              <a:rPr lang="en-US" sz="1400" b="1" dirty="0">
                <a:solidFill>
                  <a:srgbClr val="1F2A44"/>
                </a:solidFill>
                <a:latin typeface="Calibri" pitchFamily="34" charset="0"/>
                <a:ea typeface="Calibri" pitchFamily="34" charset="-122"/>
                <a:cs typeface="Calibri" pitchFamily="34" charset="-120"/>
              </a:rPr>
              <a:t>Jules</a:t>
            </a:r>
            <a:endParaRPr lang="en-US" sz="1400" dirty="0"/>
          </a:p>
        </p:txBody>
      </p:sp>
      <p:sp>
        <p:nvSpPr>
          <p:cNvPr id="6" name="Text 4"/>
          <p:cNvSpPr txBox="1"/>
          <p:nvPr/>
        </p:nvSpPr>
        <p:spPr>
          <a:xfrm>
            <a:off x="3520440" y="2468880"/>
            <a:ext cx="1645920" cy="320040"/>
          </a:xfrm>
          <a:prstGeom prst="rect">
            <a:avLst/>
          </a:prstGeom>
          <a:noFill/>
          <a:ln/>
        </p:spPr>
        <p:txBody>
          <a:bodyPr wrap="square" lIns="0" tIns="0" rIns="0" bIns="0" rtlCol="0" anchor="ctr"/>
          <a:lstStyle/>
          <a:p>
            <a:pPr marL="0" indent="0">
              <a:buNone/>
            </a:pPr>
            <a:r>
              <a:rPr lang="en-US" sz="1000" b="1" kern="0" spc="120" dirty="0">
                <a:solidFill>
                  <a:srgbClr val="B3261E"/>
                </a:solidFill>
                <a:latin typeface="Calibri" pitchFamily="34" charset="0"/>
                <a:ea typeface="Calibri" pitchFamily="34" charset="-122"/>
                <a:cs typeface="Calibri" pitchFamily="34" charset="-120"/>
              </a:rPr>
              <a:t>PRIORITÉ HAUTE</a:t>
            </a:r>
            <a:endParaRPr lang="en-US" sz="1000" dirty="0"/>
          </a:p>
        </p:txBody>
      </p:sp>
      <p:sp>
        <p:nvSpPr>
          <p:cNvPr id="7" name="Text 5"/>
          <p:cNvSpPr txBox="1"/>
          <p:nvPr/>
        </p:nvSpPr>
        <p:spPr>
          <a:xfrm>
            <a:off x="5349240" y="2414016"/>
            <a:ext cx="5760720" cy="731520"/>
          </a:xfrm>
          <a:prstGeom prst="rect">
            <a:avLst/>
          </a:prstGeom>
          <a:noFill/>
          <a:ln/>
        </p:spPr>
        <p:txBody>
          <a:bodyPr wrap="square" lIns="0" tIns="0" rIns="0" bIns="0" rtlCol="0" anchor="t"/>
          <a:lstStyle/>
          <a:p>
            <a:pPr marL="0" indent="0">
              <a:lnSpc>
                <a:spcPts val="1600"/>
              </a:lnSpc>
              <a:buNone/>
            </a:pPr>
            <a:r>
              <a:rPr lang="en-US" sz="1200" dirty="0">
                <a:solidFill>
                  <a:srgbClr val="1F2A44"/>
                </a:solidFill>
                <a:latin typeface="Calibri" pitchFamily="34" charset="0"/>
                <a:ea typeface="Calibri" pitchFamily="34" charset="-122"/>
                <a:cs typeface="Calibri" pitchFamily="34" charset="-120"/>
              </a:rPr>
              <a:t>Transférer progressivement le budget magasin vers le digital ; fidéliser sur les accessoires.</a:t>
            </a:r>
            <a:endParaRPr lang="en-US" sz="1200" dirty="0"/>
          </a:p>
        </p:txBody>
      </p:sp>
      <p:sp>
        <p:nvSpPr>
          <p:cNvPr id="8" name="Shape 6"/>
          <p:cNvSpPr/>
          <p:nvPr/>
        </p:nvSpPr>
        <p:spPr>
          <a:xfrm>
            <a:off x="822960" y="3310128"/>
            <a:ext cx="10332720" cy="0"/>
          </a:xfrm>
          <a:prstGeom prst="line">
            <a:avLst/>
          </a:prstGeom>
          <a:noFill/>
          <a:ln w="12700">
            <a:solidFill>
              <a:srgbClr val="E8ECEF"/>
            </a:solidFill>
            <a:prstDash val="solid"/>
          </a:ln>
        </p:spPr>
      </p:sp>
      <p:sp>
        <p:nvSpPr>
          <p:cNvPr id="9" name="Shape 7"/>
          <p:cNvSpPr/>
          <p:nvPr/>
        </p:nvSpPr>
        <p:spPr>
          <a:xfrm>
            <a:off x="822960" y="3694176"/>
            <a:ext cx="146304" cy="146304"/>
          </a:xfrm>
          <a:prstGeom prst="ellipse">
            <a:avLst/>
          </a:prstGeom>
          <a:solidFill>
            <a:srgbClr val="1B5E55"/>
          </a:solidFill>
          <a:ln/>
        </p:spPr>
      </p:sp>
      <p:sp>
        <p:nvSpPr>
          <p:cNvPr id="10" name="Text 8"/>
          <p:cNvSpPr txBox="1"/>
          <p:nvPr/>
        </p:nvSpPr>
        <p:spPr>
          <a:xfrm>
            <a:off x="1170432" y="3538728"/>
            <a:ext cx="2286000" cy="384048"/>
          </a:xfrm>
          <a:prstGeom prst="rect">
            <a:avLst/>
          </a:prstGeom>
          <a:noFill/>
          <a:ln/>
        </p:spPr>
        <p:txBody>
          <a:bodyPr wrap="square" lIns="0" tIns="0" rIns="0" bIns="0" rtlCol="0" anchor="ctr"/>
          <a:lstStyle/>
          <a:p>
            <a:pPr marL="0" indent="0">
              <a:buNone/>
            </a:pPr>
            <a:r>
              <a:rPr lang="en-US" sz="1400" b="1" dirty="0">
                <a:solidFill>
                  <a:srgbClr val="1F2A44"/>
                </a:solidFill>
                <a:latin typeface="Calibri" pitchFamily="34" charset="0"/>
                <a:ea typeface="Calibri" pitchFamily="34" charset="-122"/>
                <a:cs typeface="Calibri" pitchFamily="34" charset="-120"/>
              </a:rPr>
              <a:t>Emma en ligne</a:t>
            </a:r>
            <a:endParaRPr lang="en-US" sz="1400" dirty="0"/>
          </a:p>
        </p:txBody>
      </p:sp>
      <p:sp>
        <p:nvSpPr>
          <p:cNvPr id="11" name="Text 9"/>
          <p:cNvSpPr txBox="1"/>
          <p:nvPr/>
        </p:nvSpPr>
        <p:spPr>
          <a:xfrm>
            <a:off x="3520440" y="3575304"/>
            <a:ext cx="1645920" cy="320040"/>
          </a:xfrm>
          <a:prstGeom prst="rect">
            <a:avLst/>
          </a:prstGeom>
          <a:noFill/>
          <a:ln/>
        </p:spPr>
        <p:txBody>
          <a:bodyPr wrap="square" lIns="0" tIns="0" rIns="0" bIns="0" rtlCol="0" anchor="ctr"/>
          <a:lstStyle/>
          <a:p>
            <a:pPr marL="0" indent="0">
              <a:buNone/>
            </a:pPr>
            <a:r>
              <a:rPr lang="en-US" sz="1000" b="1" kern="0" spc="120" dirty="0">
                <a:solidFill>
                  <a:srgbClr val="1B5E55"/>
                </a:solidFill>
                <a:latin typeface="Calibri" pitchFamily="34" charset="0"/>
                <a:ea typeface="Calibri" pitchFamily="34" charset="-122"/>
                <a:cs typeface="Calibri" pitchFamily="34" charset="-120"/>
              </a:rPr>
              <a:t>INVESTISSEMENT</a:t>
            </a:r>
            <a:endParaRPr lang="en-US" sz="1000" dirty="0"/>
          </a:p>
        </p:txBody>
      </p:sp>
      <p:sp>
        <p:nvSpPr>
          <p:cNvPr id="12" name="Text 10"/>
          <p:cNvSpPr txBox="1"/>
          <p:nvPr/>
        </p:nvSpPr>
        <p:spPr>
          <a:xfrm>
            <a:off x="5349240" y="3520440"/>
            <a:ext cx="5760720" cy="731520"/>
          </a:xfrm>
          <a:prstGeom prst="rect">
            <a:avLst/>
          </a:prstGeom>
          <a:noFill/>
          <a:ln/>
        </p:spPr>
        <p:txBody>
          <a:bodyPr wrap="square" lIns="0" tIns="0" rIns="0" bIns="0" rtlCol="0" anchor="t"/>
          <a:lstStyle/>
          <a:p>
            <a:pPr marL="0" indent="0">
              <a:lnSpc>
                <a:spcPts val="1600"/>
              </a:lnSpc>
              <a:buNone/>
            </a:pPr>
            <a:r>
              <a:rPr lang="en-US" sz="1200" dirty="0">
                <a:solidFill>
                  <a:srgbClr val="1F2A44"/>
                </a:solidFill>
                <a:latin typeface="Calibri" pitchFamily="34" charset="0"/>
                <a:ea typeface="Calibri" pitchFamily="34" charset="-122"/>
                <a:cs typeface="Calibri" pitchFamily="34" charset="-120"/>
              </a:rPr>
              <a:t>Augmenter la publicité en ligne sur ce profil ; vente croisée sur le prêt-à-porter.</a:t>
            </a:r>
            <a:endParaRPr lang="en-US" sz="1200" dirty="0"/>
          </a:p>
        </p:txBody>
      </p:sp>
      <p:sp>
        <p:nvSpPr>
          <p:cNvPr id="13" name="Shape 11"/>
          <p:cNvSpPr/>
          <p:nvPr/>
        </p:nvSpPr>
        <p:spPr>
          <a:xfrm>
            <a:off x="822960" y="4416552"/>
            <a:ext cx="10332720" cy="0"/>
          </a:xfrm>
          <a:prstGeom prst="line">
            <a:avLst/>
          </a:prstGeom>
          <a:noFill/>
          <a:ln w="12700">
            <a:solidFill>
              <a:srgbClr val="E8ECEF"/>
            </a:solidFill>
            <a:prstDash val="solid"/>
          </a:ln>
        </p:spPr>
      </p:sp>
      <p:sp>
        <p:nvSpPr>
          <p:cNvPr id="14" name="Shape 12"/>
          <p:cNvSpPr/>
          <p:nvPr/>
        </p:nvSpPr>
        <p:spPr>
          <a:xfrm>
            <a:off x="822960" y="4800600"/>
            <a:ext cx="146304" cy="146304"/>
          </a:xfrm>
          <a:prstGeom prst="ellipse">
            <a:avLst/>
          </a:prstGeom>
          <a:solidFill>
            <a:srgbClr val="B8860B"/>
          </a:solidFill>
          <a:ln/>
        </p:spPr>
      </p:sp>
      <p:sp>
        <p:nvSpPr>
          <p:cNvPr id="15" name="Text 13"/>
          <p:cNvSpPr txBox="1"/>
          <p:nvPr/>
        </p:nvSpPr>
        <p:spPr>
          <a:xfrm>
            <a:off x="1170432" y="4645152"/>
            <a:ext cx="2286000" cy="384048"/>
          </a:xfrm>
          <a:prstGeom prst="rect">
            <a:avLst/>
          </a:prstGeom>
          <a:noFill/>
          <a:ln/>
        </p:spPr>
        <p:txBody>
          <a:bodyPr wrap="square" lIns="0" tIns="0" rIns="0" bIns="0" rtlCol="0" anchor="ctr"/>
          <a:lstStyle/>
          <a:p>
            <a:pPr marL="0" indent="0">
              <a:buNone/>
            </a:pPr>
            <a:r>
              <a:rPr lang="en-US" sz="1400" b="1" dirty="0">
                <a:solidFill>
                  <a:srgbClr val="1F2A44"/>
                </a:solidFill>
                <a:latin typeface="Calibri" pitchFamily="34" charset="0"/>
                <a:ea typeface="Calibri" pitchFamily="34" charset="-122"/>
                <a:cs typeface="Calibri" pitchFamily="34" charset="-120"/>
              </a:rPr>
              <a:t>Emma étudiante</a:t>
            </a:r>
            <a:endParaRPr lang="en-US" sz="1400" dirty="0"/>
          </a:p>
        </p:txBody>
      </p:sp>
      <p:sp>
        <p:nvSpPr>
          <p:cNvPr id="16" name="Text 14"/>
          <p:cNvSpPr txBox="1"/>
          <p:nvPr/>
        </p:nvSpPr>
        <p:spPr>
          <a:xfrm>
            <a:off x="3520440" y="4681728"/>
            <a:ext cx="1645920" cy="320040"/>
          </a:xfrm>
          <a:prstGeom prst="rect">
            <a:avLst/>
          </a:prstGeom>
          <a:noFill/>
          <a:ln/>
        </p:spPr>
        <p:txBody>
          <a:bodyPr wrap="square" lIns="0" tIns="0" rIns="0" bIns="0" rtlCol="0" anchor="ctr"/>
          <a:lstStyle/>
          <a:p>
            <a:pPr marL="0" indent="0">
              <a:buNone/>
            </a:pPr>
            <a:r>
              <a:rPr lang="en-US" sz="1000" b="1" kern="0" spc="120" dirty="0">
                <a:solidFill>
                  <a:srgbClr val="B8860B"/>
                </a:solidFill>
                <a:latin typeface="Calibri" pitchFamily="34" charset="0"/>
                <a:ea typeface="Calibri" pitchFamily="34" charset="-122"/>
                <a:cs typeface="Calibri" pitchFamily="34" charset="-120"/>
              </a:rPr>
              <a:t>SURVEILLANCE</a:t>
            </a:r>
            <a:endParaRPr lang="en-US" sz="1000" dirty="0"/>
          </a:p>
        </p:txBody>
      </p:sp>
      <p:sp>
        <p:nvSpPr>
          <p:cNvPr id="17" name="Text 15"/>
          <p:cNvSpPr txBox="1"/>
          <p:nvPr/>
        </p:nvSpPr>
        <p:spPr>
          <a:xfrm>
            <a:off x="5349240" y="4626864"/>
            <a:ext cx="5760720" cy="731520"/>
          </a:xfrm>
          <a:prstGeom prst="rect">
            <a:avLst/>
          </a:prstGeom>
          <a:noFill/>
          <a:ln/>
        </p:spPr>
        <p:txBody>
          <a:bodyPr wrap="square" lIns="0" tIns="0" rIns="0" bIns="0" rtlCol="0" anchor="t"/>
          <a:lstStyle/>
          <a:p>
            <a:pPr marL="0" indent="0">
              <a:lnSpc>
                <a:spcPts val="1600"/>
              </a:lnSpc>
              <a:buNone/>
            </a:pPr>
            <a:r>
              <a:rPr lang="en-US" sz="1200" dirty="0">
                <a:solidFill>
                  <a:srgbClr val="1F2A44"/>
                </a:solidFill>
                <a:latin typeface="Calibri" pitchFamily="34" charset="0"/>
                <a:ea typeface="Calibri" pitchFamily="34" charset="-122"/>
                <a:cs typeface="Calibri" pitchFamily="34" charset="-120"/>
              </a:rPr>
              <a:t>Offres légères et peu coûteuses ; tester une incitation vers le canal en ligne.</a:t>
            </a:r>
            <a:endParaRPr lang="en-US" sz="1200" dirty="0"/>
          </a:p>
        </p:txBody>
      </p:sp>
      <p:sp>
        <p:nvSpPr>
          <p:cNvPr id="18" name="Shape 16"/>
          <p:cNvSpPr/>
          <p:nvPr/>
        </p:nvSpPr>
        <p:spPr>
          <a:xfrm>
            <a:off x="822960" y="5522976"/>
            <a:ext cx="10332720" cy="0"/>
          </a:xfrm>
          <a:prstGeom prst="line">
            <a:avLst/>
          </a:prstGeom>
          <a:noFill/>
          <a:ln w="12700">
            <a:solidFill>
              <a:srgbClr val="E8ECEF"/>
            </a:solidFill>
            <a:prstDash val="solid"/>
          </a:ln>
        </p:spPr>
      </p:sp>
      <p:sp>
        <p:nvSpPr>
          <p:cNvPr id="19" name="Shape 17"/>
          <p:cNvSpPr/>
          <p:nvPr/>
        </p:nvSpPr>
        <p:spPr>
          <a:xfrm>
            <a:off x="822960" y="5907024"/>
            <a:ext cx="146304" cy="146304"/>
          </a:xfrm>
          <a:prstGeom prst="ellipse">
            <a:avLst/>
          </a:prstGeom>
          <a:solidFill>
            <a:srgbClr val="B3261E"/>
          </a:solidFill>
          <a:ln/>
        </p:spPr>
      </p:sp>
      <p:sp>
        <p:nvSpPr>
          <p:cNvPr id="20" name="Text 18"/>
          <p:cNvSpPr txBox="1"/>
          <p:nvPr/>
        </p:nvSpPr>
        <p:spPr>
          <a:xfrm>
            <a:off x="1170432" y="5751576"/>
            <a:ext cx="2286000" cy="384048"/>
          </a:xfrm>
          <a:prstGeom prst="rect">
            <a:avLst/>
          </a:prstGeom>
          <a:noFill/>
          <a:ln/>
        </p:spPr>
        <p:txBody>
          <a:bodyPr wrap="square" lIns="0" tIns="0" rIns="0" bIns="0" rtlCol="0" anchor="ctr"/>
          <a:lstStyle/>
          <a:p>
            <a:pPr marL="0" indent="0">
              <a:buNone/>
            </a:pPr>
            <a:r>
              <a:rPr lang="en-US" sz="1400" b="1" dirty="0">
                <a:solidFill>
                  <a:srgbClr val="1F2A44"/>
                </a:solidFill>
                <a:latin typeface="Calibri" pitchFamily="34" charset="0"/>
                <a:ea typeface="Calibri" pitchFamily="34" charset="-122"/>
                <a:cs typeface="Calibri" pitchFamily="34" charset="-120"/>
              </a:rPr>
              <a:t>Client non classé</a:t>
            </a:r>
            <a:endParaRPr lang="en-US" sz="1400" dirty="0"/>
          </a:p>
        </p:txBody>
      </p:sp>
      <p:sp>
        <p:nvSpPr>
          <p:cNvPr id="21" name="Text 19"/>
          <p:cNvSpPr txBox="1"/>
          <p:nvPr/>
        </p:nvSpPr>
        <p:spPr>
          <a:xfrm>
            <a:off x="3520440" y="5788152"/>
            <a:ext cx="1645920" cy="320040"/>
          </a:xfrm>
          <a:prstGeom prst="rect">
            <a:avLst/>
          </a:prstGeom>
          <a:noFill/>
          <a:ln/>
        </p:spPr>
        <p:txBody>
          <a:bodyPr wrap="square" lIns="0" tIns="0" rIns="0" bIns="0" rtlCol="0" anchor="ctr"/>
          <a:lstStyle/>
          <a:p>
            <a:pPr marL="0" indent="0">
              <a:buNone/>
            </a:pPr>
            <a:r>
              <a:rPr lang="en-US" sz="1000" b="1" kern="0" spc="120" dirty="0">
                <a:solidFill>
                  <a:srgbClr val="B3261E"/>
                </a:solidFill>
                <a:latin typeface="Calibri" pitchFamily="34" charset="0"/>
                <a:ea typeface="Calibri" pitchFamily="34" charset="-122"/>
                <a:cs typeface="Calibri" pitchFamily="34" charset="-120"/>
              </a:rPr>
              <a:t>URGENCE</a:t>
            </a:r>
            <a:endParaRPr lang="en-US" sz="1000" dirty="0"/>
          </a:p>
        </p:txBody>
      </p:sp>
      <p:sp>
        <p:nvSpPr>
          <p:cNvPr id="22" name="Text 20"/>
          <p:cNvSpPr txBox="1"/>
          <p:nvPr/>
        </p:nvSpPr>
        <p:spPr>
          <a:xfrm>
            <a:off x="5349240" y="5733288"/>
            <a:ext cx="5760720" cy="731520"/>
          </a:xfrm>
          <a:prstGeom prst="rect">
            <a:avLst/>
          </a:prstGeom>
          <a:noFill/>
          <a:ln/>
        </p:spPr>
        <p:txBody>
          <a:bodyPr wrap="square" lIns="0" tIns="0" rIns="0" bIns="0" rtlCol="0" anchor="t"/>
          <a:lstStyle/>
          <a:p>
            <a:pPr marL="0" indent="0">
              <a:lnSpc>
                <a:spcPts val="1600"/>
              </a:lnSpc>
              <a:buNone/>
            </a:pPr>
            <a:r>
              <a:rPr lang="en-US" sz="1200" dirty="0">
                <a:solidFill>
                  <a:srgbClr val="1F2A44"/>
                </a:solidFill>
                <a:latin typeface="Calibri" pitchFamily="34" charset="0"/>
                <a:ea typeface="Calibri" pitchFamily="34" charset="-122"/>
                <a:cs typeface="Calibri" pitchFamily="34" charset="-120"/>
              </a:rPr>
              <a:t>Contact de rétention immédiat, indépendamment de la segmentation.</a:t>
            </a:r>
            <a:endParaRPr lang="en-US" sz="1200" dirty="0"/>
          </a:p>
        </p:txBody>
      </p:sp>
      <p:sp>
        <p:nvSpPr>
          <p:cNvPr id="23" name="Text 21"/>
          <p:cNvSpPr txBox="1"/>
          <p:nvPr/>
        </p:nvSpPr>
        <p:spPr>
          <a:xfrm>
            <a:off x="10789920" y="626364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822960" y="566928"/>
            <a:ext cx="10515600" cy="274320"/>
          </a:xfrm>
          <a:prstGeom prst="rect">
            <a:avLst/>
          </a:prstGeom>
          <a:noFill/>
          <a:ln/>
        </p:spPr>
        <p:txBody>
          <a:bodyPr wrap="square" lIns="0" tIns="0" rIns="0" bIns="0" rtlCol="0" anchor="ctr"/>
          <a:lstStyle/>
          <a:p>
            <a:pPr marL="0" indent="0">
              <a:buNone/>
            </a:pPr>
            <a:r>
              <a:rPr lang="en-US" sz="1100" b="1" kern="0" spc="240" dirty="0">
                <a:solidFill>
                  <a:srgbClr val="1B5E55"/>
                </a:solidFill>
                <a:latin typeface="Calibri" pitchFamily="34" charset="0"/>
                <a:ea typeface="Calibri" pitchFamily="34" charset="-122"/>
                <a:cs typeface="Calibri" pitchFamily="34" charset="-120"/>
              </a:rPr>
              <a:t>PERSONNE 6 · MODULE M8</a:t>
            </a:r>
            <a:endParaRPr lang="en-US" sz="1100" dirty="0"/>
          </a:p>
        </p:txBody>
      </p:sp>
      <p:sp>
        <p:nvSpPr>
          <p:cNvPr id="3" name="Text 1"/>
          <p:cNvSpPr txBox="1"/>
          <p:nvPr/>
        </p:nvSpPr>
        <p:spPr>
          <a:xfrm>
            <a:off x="822960" y="914400"/>
            <a:ext cx="5943600" cy="1554480"/>
          </a:xfrm>
          <a:prstGeom prst="rect">
            <a:avLst/>
          </a:prstGeom>
          <a:noFill/>
          <a:ln/>
        </p:spPr>
        <p:txBody>
          <a:bodyPr wrap="square" lIns="0" tIns="0" rIns="0" bIns="0" rtlCol="0" anchor="t"/>
          <a:lstStyle/>
          <a:p>
            <a:pPr marL="0" indent="0">
              <a:lnSpc>
                <a:spcPts val="4000"/>
              </a:lnSpc>
              <a:buNone/>
            </a:pPr>
            <a:r>
              <a:rPr lang="en-US" sz="3400" b="1" dirty="0">
                <a:solidFill>
                  <a:srgbClr val="1F2A44"/>
                </a:solidFill>
                <a:latin typeface="Cambria" pitchFamily="34" charset="0"/>
                <a:ea typeface="Cambria" pitchFamily="34" charset="-122"/>
                <a:cs typeface="Cambria" pitchFamily="34" charset="-120"/>
              </a:rPr>
              <a:t>Un tableau de bord,</a:t>
            </a:r>
            <a:endParaRPr lang="en-US" sz="3400" dirty="0"/>
          </a:p>
          <a:p>
            <a:pPr marL="0" indent="0">
              <a:lnSpc>
                <a:spcPts val="4000"/>
              </a:lnSpc>
              <a:buNone/>
            </a:pPr>
            <a:r>
              <a:rPr lang="en-US" sz="3400" b="1" dirty="0">
                <a:solidFill>
                  <a:srgbClr val="1F2A44"/>
                </a:solidFill>
                <a:latin typeface="Cambria" pitchFamily="34" charset="0"/>
                <a:ea typeface="Cambria" pitchFamily="34" charset="-122"/>
                <a:cs typeface="Cambria" pitchFamily="34" charset="-120"/>
              </a:rPr>
              <a:t>cinq lectures</a:t>
            </a:r>
            <a:endParaRPr lang="en-US" sz="3400" dirty="0"/>
          </a:p>
        </p:txBody>
      </p:sp>
      <p:sp>
        <p:nvSpPr>
          <p:cNvPr id="4" name="Text 2"/>
          <p:cNvSpPr txBox="1"/>
          <p:nvPr/>
        </p:nvSpPr>
        <p:spPr>
          <a:xfrm>
            <a:off x="822960" y="2971800"/>
            <a:ext cx="5120640" cy="1280160"/>
          </a:xfrm>
          <a:prstGeom prst="rect">
            <a:avLst/>
          </a:prstGeom>
          <a:noFill/>
          <a:ln/>
        </p:spPr>
        <p:txBody>
          <a:bodyPr wrap="square" lIns="0" tIns="0" rIns="0" bIns="0" rtlCol="0" anchor="t"/>
          <a:lstStyle/>
          <a:p>
            <a:pPr marL="0" indent="0">
              <a:lnSpc>
                <a:spcPts val="2000"/>
              </a:lnSpc>
              <a:buNone/>
            </a:pPr>
            <a:r>
              <a:rPr lang="en-US" sz="1350" dirty="0">
                <a:solidFill>
                  <a:srgbClr val="1F2A44"/>
                </a:solidFill>
                <a:latin typeface="Calibri" pitchFamily="34" charset="0"/>
                <a:ea typeface="Calibri" pitchFamily="34" charset="-122"/>
                <a:cs typeface="Calibri" pitchFamily="34" charset="-120"/>
              </a:rPr>
              <a:t>Toutes les analyses du projet sont accessibles en direct dans une application interactive, déployée et consultable depuis n'importe quel navigateur.</a:t>
            </a:r>
            <a:endParaRPr lang="en-US" sz="1350" dirty="0"/>
          </a:p>
        </p:txBody>
      </p:sp>
      <p:sp>
        <p:nvSpPr>
          <p:cNvPr id="5" name="Text 3"/>
          <p:cNvSpPr txBox="1"/>
          <p:nvPr/>
        </p:nvSpPr>
        <p:spPr>
          <a:xfrm>
            <a:off x="822960" y="4434840"/>
            <a:ext cx="5120640" cy="731520"/>
          </a:xfrm>
          <a:prstGeom prst="rect">
            <a:avLst/>
          </a:prstGeom>
          <a:noFill/>
          <a:ln/>
        </p:spPr>
        <p:txBody>
          <a:bodyPr wrap="square" lIns="0" tIns="0" rIns="0" bIns="0" rtlCol="0" anchor="t"/>
          <a:lstStyle/>
          <a:p>
            <a:pPr marL="0" indent="0">
              <a:lnSpc>
                <a:spcPts val="2000"/>
              </a:lnSpc>
              <a:buNone/>
            </a:pPr>
            <a:r>
              <a:rPr lang="en-US" sz="1350" i="1" dirty="0">
                <a:solidFill>
                  <a:srgbClr val="1B5E55"/>
                </a:solidFill>
                <a:latin typeface="Calibri" pitchFamily="34" charset="0"/>
                <a:ea typeface="Calibri" pitchFamily="34" charset="-122"/>
                <a:cs typeface="Calibri" pitchFamily="34" charset="-120"/>
              </a:rPr>
              <a:t>Filtrer, trier, explorer — plutôt que de lire des graphiques figés.</a:t>
            </a:r>
            <a:endParaRPr lang="en-US" sz="1350" dirty="0"/>
          </a:p>
        </p:txBody>
      </p:sp>
      <p:sp>
        <p:nvSpPr>
          <p:cNvPr id="6" name="Text 4"/>
          <p:cNvSpPr txBox="1"/>
          <p:nvPr/>
        </p:nvSpPr>
        <p:spPr>
          <a:xfrm>
            <a:off x="6766560" y="2231136"/>
            <a:ext cx="457200" cy="320040"/>
          </a:xfrm>
          <a:prstGeom prst="rect">
            <a:avLst/>
          </a:prstGeom>
          <a:noFill/>
          <a:ln/>
        </p:spPr>
        <p:txBody>
          <a:bodyPr wrap="square" lIns="0" tIns="0" rIns="0" bIns="0" rtlCol="0" anchor="ctr"/>
          <a:lstStyle/>
          <a:p>
            <a:pPr marL="0" indent="0">
              <a:buNone/>
            </a:pPr>
            <a:r>
              <a:rPr lang="en-US" sz="1500" b="1" dirty="0">
                <a:solidFill>
                  <a:srgbClr val="1B5E55"/>
                </a:solidFill>
                <a:latin typeface="Cambria" pitchFamily="34" charset="0"/>
                <a:ea typeface="Cambria" pitchFamily="34" charset="-122"/>
                <a:cs typeface="Cambria" pitchFamily="34" charset="-120"/>
              </a:rPr>
              <a:t>01</a:t>
            </a:r>
            <a:endParaRPr lang="en-US" sz="1500" dirty="0"/>
          </a:p>
        </p:txBody>
      </p:sp>
      <p:sp>
        <p:nvSpPr>
          <p:cNvPr id="7" name="Text 5"/>
          <p:cNvSpPr txBox="1"/>
          <p:nvPr/>
        </p:nvSpPr>
        <p:spPr>
          <a:xfrm>
            <a:off x="7315200" y="2194560"/>
            <a:ext cx="3931920" cy="320040"/>
          </a:xfrm>
          <a:prstGeom prst="rect">
            <a:avLst/>
          </a:prstGeom>
          <a:noFill/>
          <a:ln/>
        </p:spPr>
        <p:txBody>
          <a:bodyPr wrap="square" lIns="0" tIns="0" rIns="0" bIns="0" rtlCol="0" anchor="ctr"/>
          <a:lstStyle/>
          <a:p>
            <a:pPr marL="0" indent="0">
              <a:buNone/>
            </a:pPr>
            <a:r>
              <a:rPr lang="en-US" sz="1400" b="1" dirty="0">
                <a:solidFill>
                  <a:srgbClr val="1F2A44"/>
                </a:solidFill>
                <a:latin typeface="Calibri" pitchFamily="34" charset="0"/>
                <a:ea typeface="Calibri" pitchFamily="34" charset="-122"/>
                <a:cs typeface="Calibri" pitchFamily="34" charset="-120"/>
              </a:rPr>
              <a:t>Vue d'ensemble</a:t>
            </a:r>
            <a:endParaRPr lang="en-US" sz="1400" dirty="0"/>
          </a:p>
        </p:txBody>
      </p:sp>
      <p:sp>
        <p:nvSpPr>
          <p:cNvPr id="8" name="Text 6"/>
          <p:cNvSpPr txBox="1"/>
          <p:nvPr/>
        </p:nvSpPr>
        <p:spPr>
          <a:xfrm>
            <a:off x="7315200" y="2523744"/>
            <a:ext cx="3931920" cy="29260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Indicateurs globaux du projet</a:t>
            </a:r>
            <a:endParaRPr lang="en-US" sz="1100" dirty="0"/>
          </a:p>
        </p:txBody>
      </p:sp>
      <p:sp>
        <p:nvSpPr>
          <p:cNvPr id="9" name="Text 7"/>
          <p:cNvSpPr txBox="1"/>
          <p:nvPr/>
        </p:nvSpPr>
        <p:spPr>
          <a:xfrm>
            <a:off x="6766560" y="3008376"/>
            <a:ext cx="457200" cy="320040"/>
          </a:xfrm>
          <a:prstGeom prst="rect">
            <a:avLst/>
          </a:prstGeom>
          <a:noFill/>
          <a:ln/>
        </p:spPr>
        <p:txBody>
          <a:bodyPr wrap="square" lIns="0" tIns="0" rIns="0" bIns="0" rtlCol="0" anchor="ctr"/>
          <a:lstStyle/>
          <a:p>
            <a:pPr marL="0" indent="0">
              <a:buNone/>
            </a:pPr>
            <a:r>
              <a:rPr lang="en-US" sz="1500" b="1" dirty="0">
                <a:solidFill>
                  <a:srgbClr val="1B5E55"/>
                </a:solidFill>
                <a:latin typeface="Cambria" pitchFamily="34" charset="0"/>
                <a:ea typeface="Cambria" pitchFamily="34" charset="-122"/>
                <a:cs typeface="Cambria" pitchFamily="34" charset="-120"/>
              </a:rPr>
              <a:t>02</a:t>
            </a:r>
            <a:endParaRPr lang="en-US" sz="1500" dirty="0"/>
          </a:p>
        </p:txBody>
      </p:sp>
      <p:sp>
        <p:nvSpPr>
          <p:cNvPr id="10" name="Text 8"/>
          <p:cNvSpPr txBox="1"/>
          <p:nvPr/>
        </p:nvSpPr>
        <p:spPr>
          <a:xfrm>
            <a:off x="7315200" y="2971800"/>
            <a:ext cx="3931920" cy="320040"/>
          </a:xfrm>
          <a:prstGeom prst="rect">
            <a:avLst/>
          </a:prstGeom>
          <a:noFill/>
          <a:ln/>
        </p:spPr>
        <p:txBody>
          <a:bodyPr wrap="square" lIns="0" tIns="0" rIns="0" bIns="0" rtlCol="0" anchor="ctr"/>
          <a:lstStyle/>
          <a:p>
            <a:pPr marL="0" indent="0">
              <a:buNone/>
            </a:pPr>
            <a:r>
              <a:rPr lang="en-US" sz="1400" b="1" dirty="0">
                <a:solidFill>
                  <a:srgbClr val="1F2A44"/>
                </a:solidFill>
                <a:latin typeface="Calibri" pitchFamily="34" charset="0"/>
                <a:ea typeface="Calibri" pitchFamily="34" charset="-122"/>
                <a:cs typeface="Calibri" pitchFamily="34" charset="-120"/>
              </a:rPr>
              <a:t>Segments</a:t>
            </a:r>
            <a:endParaRPr lang="en-US" sz="1400" dirty="0"/>
          </a:p>
        </p:txBody>
      </p:sp>
      <p:sp>
        <p:nvSpPr>
          <p:cNvPr id="11" name="Text 9"/>
          <p:cNvSpPr txBox="1"/>
          <p:nvPr/>
        </p:nvSpPr>
        <p:spPr>
          <a:xfrm>
            <a:off x="7315200" y="3300984"/>
            <a:ext cx="3931920" cy="29260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Clusters interactifs et fiches personas</a:t>
            </a:r>
            <a:endParaRPr lang="en-US" sz="1100" dirty="0"/>
          </a:p>
        </p:txBody>
      </p:sp>
      <p:sp>
        <p:nvSpPr>
          <p:cNvPr id="12" name="Text 10"/>
          <p:cNvSpPr txBox="1"/>
          <p:nvPr/>
        </p:nvSpPr>
        <p:spPr>
          <a:xfrm>
            <a:off x="6766560" y="3785616"/>
            <a:ext cx="457200" cy="320040"/>
          </a:xfrm>
          <a:prstGeom prst="rect">
            <a:avLst/>
          </a:prstGeom>
          <a:noFill/>
          <a:ln/>
        </p:spPr>
        <p:txBody>
          <a:bodyPr wrap="square" lIns="0" tIns="0" rIns="0" bIns="0" rtlCol="0" anchor="ctr"/>
          <a:lstStyle/>
          <a:p>
            <a:pPr marL="0" indent="0">
              <a:buNone/>
            </a:pPr>
            <a:r>
              <a:rPr lang="en-US" sz="1500" b="1" dirty="0">
                <a:solidFill>
                  <a:srgbClr val="1B5E55"/>
                </a:solidFill>
                <a:latin typeface="Cambria" pitchFamily="34" charset="0"/>
                <a:ea typeface="Cambria" pitchFamily="34" charset="-122"/>
                <a:cs typeface="Cambria" pitchFamily="34" charset="-120"/>
              </a:rPr>
              <a:t>03</a:t>
            </a:r>
            <a:endParaRPr lang="en-US" sz="1500" dirty="0"/>
          </a:p>
        </p:txBody>
      </p:sp>
      <p:sp>
        <p:nvSpPr>
          <p:cNvPr id="13" name="Text 11"/>
          <p:cNvSpPr txBox="1"/>
          <p:nvPr/>
        </p:nvSpPr>
        <p:spPr>
          <a:xfrm>
            <a:off x="7315200" y="3749040"/>
            <a:ext cx="3931920" cy="320040"/>
          </a:xfrm>
          <a:prstGeom prst="rect">
            <a:avLst/>
          </a:prstGeom>
          <a:noFill/>
          <a:ln/>
        </p:spPr>
        <p:txBody>
          <a:bodyPr wrap="square" lIns="0" tIns="0" rIns="0" bIns="0" rtlCol="0" anchor="ctr"/>
          <a:lstStyle/>
          <a:p>
            <a:pPr marL="0" indent="0">
              <a:buNone/>
            </a:pPr>
            <a:r>
              <a:rPr lang="en-US" sz="1400" b="1" dirty="0">
                <a:solidFill>
                  <a:srgbClr val="1F2A44"/>
                </a:solidFill>
                <a:latin typeface="Calibri" pitchFamily="34" charset="0"/>
                <a:ea typeface="Calibri" pitchFamily="34" charset="-122"/>
                <a:cs typeface="Calibri" pitchFamily="34" charset="-120"/>
              </a:rPr>
              <a:t>Campagnes</a:t>
            </a:r>
            <a:endParaRPr lang="en-US" sz="1400" dirty="0"/>
          </a:p>
        </p:txBody>
      </p:sp>
      <p:sp>
        <p:nvSpPr>
          <p:cNvPr id="14" name="Text 12"/>
          <p:cNvSpPr txBox="1"/>
          <p:nvPr/>
        </p:nvSpPr>
        <p:spPr>
          <a:xfrm>
            <a:off x="7315200" y="4078224"/>
            <a:ext cx="3931920" cy="29260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Comparaison des canaux, tri dynamique</a:t>
            </a:r>
            <a:endParaRPr lang="en-US" sz="1100" dirty="0"/>
          </a:p>
        </p:txBody>
      </p:sp>
      <p:sp>
        <p:nvSpPr>
          <p:cNvPr id="15" name="Text 13"/>
          <p:cNvSpPr txBox="1"/>
          <p:nvPr/>
        </p:nvSpPr>
        <p:spPr>
          <a:xfrm>
            <a:off x="6766560" y="4562856"/>
            <a:ext cx="457200" cy="320040"/>
          </a:xfrm>
          <a:prstGeom prst="rect">
            <a:avLst/>
          </a:prstGeom>
          <a:noFill/>
          <a:ln/>
        </p:spPr>
        <p:txBody>
          <a:bodyPr wrap="square" lIns="0" tIns="0" rIns="0" bIns="0" rtlCol="0" anchor="ctr"/>
          <a:lstStyle/>
          <a:p>
            <a:pPr marL="0" indent="0">
              <a:buNone/>
            </a:pPr>
            <a:r>
              <a:rPr lang="en-US" sz="1500" b="1" dirty="0">
                <a:solidFill>
                  <a:srgbClr val="1B5E55"/>
                </a:solidFill>
                <a:latin typeface="Cambria" pitchFamily="34" charset="0"/>
                <a:ea typeface="Cambria" pitchFamily="34" charset="-122"/>
                <a:cs typeface="Cambria" pitchFamily="34" charset="-120"/>
              </a:rPr>
              <a:t>04</a:t>
            </a:r>
            <a:endParaRPr lang="en-US" sz="1500" dirty="0"/>
          </a:p>
        </p:txBody>
      </p:sp>
      <p:sp>
        <p:nvSpPr>
          <p:cNvPr id="16" name="Text 14"/>
          <p:cNvSpPr txBox="1"/>
          <p:nvPr/>
        </p:nvSpPr>
        <p:spPr>
          <a:xfrm>
            <a:off x="7315200" y="4526280"/>
            <a:ext cx="3931920" cy="320040"/>
          </a:xfrm>
          <a:prstGeom prst="rect">
            <a:avLst/>
          </a:prstGeom>
          <a:noFill/>
          <a:ln/>
        </p:spPr>
        <p:txBody>
          <a:bodyPr wrap="square" lIns="0" tIns="0" rIns="0" bIns="0" rtlCol="0" anchor="ctr"/>
          <a:lstStyle/>
          <a:p>
            <a:pPr marL="0" indent="0">
              <a:buNone/>
            </a:pPr>
            <a:r>
              <a:rPr lang="en-US" sz="1400" b="1" dirty="0">
                <a:solidFill>
                  <a:srgbClr val="1F2A44"/>
                </a:solidFill>
                <a:latin typeface="Calibri" pitchFamily="34" charset="0"/>
                <a:ea typeface="Calibri" pitchFamily="34" charset="-122"/>
                <a:cs typeface="Calibri" pitchFamily="34" charset="-120"/>
              </a:rPr>
              <a:t>Churn</a:t>
            </a:r>
            <a:endParaRPr lang="en-US" sz="1400" dirty="0"/>
          </a:p>
        </p:txBody>
      </p:sp>
      <p:sp>
        <p:nvSpPr>
          <p:cNvPr id="17" name="Text 15"/>
          <p:cNvSpPr txBox="1"/>
          <p:nvPr/>
        </p:nvSpPr>
        <p:spPr>
          <a:xfrm>
            <a:off x="7315200" y="4855464"/>
            <a:ext cx="3931920" cy="29260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Clients à risque et variables du modèle</a:t>
            </a:r>
            <a:endParaRPr lang="en-US" sz="1100" dirty="0"/>
          </a:p>
        </p:txBody>
      </p:sp>
      <p:sp>
        <p:nvSpPr>
          <p:cNvPr id="18" name="Text 16"/>
          <p:cNvSpPr txBox="1"/>
          <p:nvPr/>
        </p:nvSpPr>
        <p:spPr>
          <a:xfrm>
            <a:off x="6766560" y="5340096"/>
            <a:ext cx="457200" cy="320040"/>
          </a:xfrm>
          <a:prstGeom prst="rect">
            <a:avLst/>
          </a:prstGeom>
          <a:noFill/>
          <a:ln/>
        </p:spPr>
        <p:txBody>
          <a:bodyPr wrap="square" lIns="0" tIns="0" rIns="0" bIns="0" rtlCol="0" anchor="ctr"/>
          <a:lstStyle/>
          <a:p>
            <a:pPr marL="0" indent="0">
              <a:buNone/>
            </a:pPr>
            <a:r>
              <a:rPr lang="en-US" sz="1500" b="1" dirty="0">
                <a:solidFill>
                  <a:srgbClr val="1B5E55"/>
                </a:solidFill>
                <a:latin typeface="Cambria" pitchFamily="34" charset="0"/>
                <a:ea typeface="Cambria" pitchFamily="34" charset="-122"/>
                <a:cs typeface="Cambria" pitchFamily="34" charset="-120"/>
              </a:rPr>
              <a:t>05</a:t>
            </a:r>
            <a:endParaRPr lang="en-US" sz="1500" dirty="0"/>
          </a:p>
        </p:txBody>
      </p:sp>
      <p:sp>
        <p:nvSpPr>
          <p:cNvPr id="19" name="Text 17"/>
          <p:cNvSpPr txBox="1"/>
          <p:nvPr/>
        </p:nvSpPr>
        <p:spPr>
          <a:xfrm>
            <a:off x="7315200" y="5303520"/>
            <a:ext cx="3931920" cy="320040"/>
          </a:xfrm>
          <a:prstGeom prst="rect">
            <a:avLst/>
          </a:prstGeom>
          <a:noFill/>
          <a:ln/>
        </p:spPr>
        <p:txBody>
          <a:bodyPr wrap="square" lIns="0" tIns="0" rIns="0" bIns="0" rtlCol="0" anchor="ctr"/>
          <a:lstStyle/>
          <a:p>
            <a:pPr marL="0" indent="0">
              <a:buNone/>
            </a:pPr>
            <a:r>
              <a:rPr lang="en-US" sz="1400" b="1" dirty="0">
                <a:solidFill>
                  <a:srgbClr val="1F2A44"/>
                </a:solidFill>
                <a:latin typeface="Calibri" pitchFamily="34" charset="0"/>
                <a:ea typeface="Calibri" pitchFamily="34" charset="-122"/>
                <a:cs typeface="Calibri" pitchFamily="34" charset="-120"/>
              </a:rPr>
              <a:t>Stratégie</a:t>
            </a:r>
            <a:endParaRPr lang="en-US" sz="1400" dirty="0"/>
          </a:p>
        </p:txBody>
      </p:sp>
      <p:sp>
        <p:nvSpPr>
          <p:cNvPr id="20" name="Text 18"/>
          <p:cNvSpPr txBox="1"/>
          <p:nvPr/>
        </p:nvSpPr>
        <p:spPr>
          <a:xfrm>
            <a:off x="7315200" y="5632704"/>
            <a:ext cx="3931920" cy="29260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Plan d'action par segment</a:t>
            </a:r>
            <a:endParaRPr lang="en-US" sz="1100" dirty="0"/>
          </a:p>
        </p:txBody>
      </p:sp>
      <p:sp>
        <p:nvSpPr>
          <p:cNvPr id="21" name="Text 19"/>
          <p:cNvSpPr txBox="1"/>
          <p:nvPr/>
        </p:nvSpPr>
        <p:spPr>
          <a:xfrm>
            <a:off x="10789920" y="626364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822960" y="566928"/>
            <a:ext cx="10515600" cy="274320"/>
          </a:xfrm>
          <a:prstGeom prst="rect">
            <a:avLst/>
          </a:prstGeom>
          <a:noFill/>
          <a:ln/>
        </p:spPr>
        <p:txBody>
          <a:bodyPr wrap="square" lIns="0" tIns="0" rIns="0" bIns="0" rtlCol="0" anchor="ctr"/>
          <a:lstStyle/>
          <a:p>
            <a:pPr marL="0" indent="0">
              <a:buNone/>
            </a:pPr>
            <a:r>
              <a:rPr lang="en-US" sz="1100" b="1" kern="0" spc="240" dirty="0">
                <a:solidFill>
                  <a:srgbClr val="1B5E55"/>
                </a:solidFill>
                <a:latin typeface="Calibri" pitchFamily="34" charset="0"/>
                <a:ea typeface="Calibri" pitchFamily="34" charset="-122"/>
                <a:cs typeface="Calibri" pitchFamily="34" charset="-120"/>
              </a:rPr>
              <a:t>HONNÊTETÉ MÉTHODOLOGIQUE</a:t>
            </a:r>
            <a:endParaRPr lang="en-US" sz="1100" dirty="0"/>
          </a:p>
        </p:txBody>
      </p:sp>
      <p:sp>
        <p:nvSpPr>
          <p:cNvPr id="3" name="Text 1"/>
          <p:cNvSpPr txBox="1"/>
          <p:nvPr/>
        </p:nvSpPr>
        <p:spPr>
          <a:xfrm>
            <a:off x="822960" y="914400"/>
            <a:ext cx="6217920" cy="1554480"/>
          </a:xfrm>
          <a:prstGeom prst="rect">
            <a:avLst/>
          </a:prstGeom>
          <a:noFill/>
          <a:ln/>
        </p:spPr>
        <p:txBody>
          <a:bodyPr wrap="square" lIns="0" tIns="0" rIns="0" bIns="0" rtlCol="0" anchor="t"/>
          <a:lstStyle/>
          <a:p>
            <a:pPr marL="0" indent="0">
              <a:lnSpc>
                <a:spcPts val="4000"/>
              </a:lnSpc>
              <a:buNone/>
            </a:pPr>
            <a:r>
              <a:rPr lang="en-US" sz="3400" b="1" dirty="0">
                <a:solidFill>
                  <a:srgbClr val="1F2A44"/>
                </a:solidFill>
                <a:latin typeface="Cambria" pitchFamily="34" charset="0"/>
                <a:ea typeface="Cambria" pitchFamily="34" charset="-122"/>
                <a:cs typeface="Cambria" pitchFamily="34" charset="-120"/>
              </a:rPr>
              <a:t>Ce que ces chiffres</a:t>
            </a:r>
            <a:endParaRPr lang="en-US" sz="3400" dirty="0"/>
          </a:p>
          <a:p>
            <a:pPr marL="0" indent="0">
              <a:lnSpc>
                <a:spcPts val="4000"/>
              </a:lnSpc>
              <a:buNone/>
            </a:pPr>
            <a:r>
              <a:rPr lang="en-US" sz="3400" b="1" dirty="0">
                <a:solidFill>
                  <a:srgbClr val="1F2A44"/>
                </a:solidFill>
                <a:latin typeface="Cambria" pitchFamily="34" charset="0"/>
                <a:ea typeface="Cambria" pitchFamily="34" charset="-122"/>
                <a:cs typeface="Cambria" pitchFamily="34" charset="-120"/>
              </a:rPr>
              <a:t>ne disent pas</a:t>
            </a:r>
            <a:endParaRPr lang="en-US" sz="3400" dirty="0"/>
          </a:p>
        </p:txBody>
      </p:sp>
      <p:sp>
        <p:nvSpPr>
          <p:cNvPr id="4" name="Text 2"/>
          <p:cNvSpPr txBox="1"/>
          <p:nvPr/>
        </p:nvSpPr>
        <p:spPr>
          <a:xfrm>
            <a:off x="822960" y="2971800"/>
            <a:ext cx="5669280" cy="1097280"/>
          </a:xfrm>
          <a:prstGeom prst="rect">
            <a:avLst/>
          </a:prstGeom>
          <a:noFill/>
          <a:ln/>
        </p:spPr>
        <p:txBody>
          <a:bodyPr wrap="square" lIns="0" tIns="0" rIns="0" bIns="0" rtlCol="0" anchor="t"/>
          <a:lstStyle/>
          <a:p>
            <a:pPr marL="0" indent="0">
              <a:lnSpc>
                <a:spcPts val="2100"/>
              </a:lnSpc>
              <a:buNone/>
            </a:pPr>
            <a:r>
              <a:rPr lang="en-US" sz="1400" dirty="0">
                <a:solidFill>
                  <a:srgbClr val="1F2A44"/>
                </a:solidFill>
                <a:latin typeface="Calibri" pitchFamily="34" charset="0"/>
                <a:ea typeface="Calibri" pitchFamily="34" charset="-122"/>
                <a:cs typeface="Calibri" pitchFamily="34" charset="-120"/>
              </a:rPr>
              <a:t>L'échantillon fourni pour cet exercice compte cinq clients, cinq produits, cinq ventes et cinq campagnes.</a:t>
            </a:r>
            <a:endParaRPr lang="en-US" sz="1400" dirty="0"/>
          </a:p>
        </p:txBody>
      </p:sp>
      <p:sp>
        <p:nvSpPr>
          <p:cNvPr id="5" name="Text 3"/>
          <p:cNvSpPr txBox="1"/>
          <p:nvPr/>
        </p:nvSpPr>
        <p:spPr>
          <a:xfrm>
            <a:off x="822960" y="4206240"/>
            <a:ext cx="5669280" cy="1097280"/>
          </a:xfrm>
          <a:prstGeom prst="rect">
            <a:avLst/>
          </a:prstGeom>
          <a:noFill/>
          <a:ln/>
        </p:spPr>
        <p:txBody>
          <a:bodyPr wrap="square" lIns="0" tIns="0" rIns="0" bIns="0" rtlCol="0" anchor="t"/>
          <a:lstStyle/>
          <a:p>
            <a:pPr marL="0" indent="0">
              <a:lnSpc>
                <a:spcPts val="2100"/>
              </a:lnSpc>
              <a:buNone/>
            </a:pPr>
            <a:r>
              <a:rPr lang="en-US" sz="1400" b="1" dirty="0">
                <a:solidFill>
                  <a:srgbClr val="1B5E55"/>
                </a:solidFill>
                <a:latin typeface="Calibri" pitchFamily="34" charset="0"/>
                <a:ea typeface="Calibri" pitchFamily="34" charset="-122"/>
                <a:cs typeface="Calibri" pitchFamily="34" charset="-120"/>
              </a:rPr>
              <a:t>La chaîne de traitement est prouvée correcte de bout en bout. Les chiffres, eux, restent illustratifs.</a:t>
            </a:r>
            <a:endParaRPr lang="en-US" sz="1400" dirty="0"/>
          </a:p>
        </p:txBody>
      </p:sp>
      <p:sp>
        <p:nvSpPr>
          <p:cNvPr id="6" name="Shape 4"/>
          <p:cNvSpPr/>
          <p:nvPr/>
        </p:nvSpPr>
        <p:spPr>
          <a:xfrm>
            <a:off x="7040880" y="2286000"/>
            <a:ext cx="4297680" cy="3108960"/>
          </a:xfrm>
          <a:prstGeom prst="roundRect">
            <a:avLst>
              <a:gd name="adj" fmla="val 1765"/>
            </a:avLst>
          </a:prstGeom>
          <a:solidFill>
            <a:srgbClr val="FDF8EC"/>
          </a:solidFill>
          <a:ln w="12700">
            <a:solidFill>
              <a:srgbClr val="EBD9A8"/>
            </a:solidFill>
            <a:prstDash val="solid"/>
          </a:ln>
        </p:spPr>
      </p:sp>
      <p:sp>
        <p:nvSpPr>
          <p:cNvPr id="7" name="Text 5"/>
          <p:cNvSpPr txBox="1"/>
          <p:nvPr/>
        </p:nvSpPr>
        <p:spPr>
          <a:xfrm>
            <a:off x="7315200" y="2651760"/>
            <a:ext cx="3749040" cy="365760"/>
          </a:xfrm>
          <a:prstGeom prst="rect">
            <a:avLst/>
          </a:prstGeom>
          <a:noFill/>
          <a:ln/>
        </p:spPr>
        <p:txBody>
          <a:bodyPr wrap="square" lIns="0" tIns="0" rIns="0" bIns="0" rtlCol="0" anchor="ctr"/>
          <a:lstStyle/>
          <a:p>
            <a:pPr marL="0" indent="0">
              <a:buNone/>
            </a:pPr>
            <a:r>
              <a:rPr lang="en-US" sz="1300" dirty="0">
                <a:solidFill>
                  <a:srgbClr val="1F2A44"/>
                </a:solidFill>
                <a:latin typeface="Calibri" pitchFamily="34" charset="0"/>
                <a:ea typeface="Calibri" pitchFamily="34" charset="-122"/>
                <a:cs typeface="Calibri" pitchFamily="34" charset="-120"/>
              </a:rPr>
              <a:t>Passer à l'échelle ne demande</a:t>
            </a:r>
            <a:endParaRPr lang="en-US" sz="1300" dirty="0"/>
          </a:p>
        </p:txBody>
      </p:sp>
      <p:sp>
        <p:nvSpPr>
          <p:cNvPr id="8" name="Text 6"/>
          <p:cNvSpPr txBox="1"/>
          <p:nvPr/>
        </p:nvSpPr>
        <p:spPr>
          <a:xfrm>
            <a:off x="7315200" y="3063240"/>
            <a:ext cx="3749040" cy="548640"/>
          </a:xfrm>
          <a:prstGeom prst="rect">
            <a:avLst/>
          </a:prstGeom>
          <a:noFill/>
          <a:ln/>
        </p:spPr>
        <p:txBody>
          <a:bodyPr wrap="square" lIns="0" tIns="0" rIns="0" bIns="0" rtlCol="0" anchor="ctr"/>
          <a:lstStyle/>
          <a:p>
            <a:pPr marL="0" indent="0">
              <a:buNone/>
            </a:pPr>
            <a:r>
              <a:rPr lang="en-US" sz="2600" b="1" dirty="0">
                <a:solidFill>
                  <a:srgbClr val="B8860B"/>
                </a:solidFill>
                <a:latin typeface="Cambria" pitchFamily="34" charset="0"/>
                <a:ea typeface="Cambria" pitchFamily="34" charset="-122"/>
                <a:cs typeface="Cambria" pitchFamily="34" charset="-120"/>
              </a:rPr>
              <a:t>aucune réécriture</a:t>
            </a:r>
            <a:endParaRPr lang="en-US" sz="2600" dirty="0"/>
          </a:p>
        </p:txBody>
      </p:sp>
      <p:sp>
        <p:nvSpPr>
          <p:cNvPr id="9" name="Text 7"/>
          <p:cNvSpPr txBox="1"/>
          <p:nvPr/>
        </p:nvSpPr>
        <p:spPr>
          <a:xfrm>
            <a:off x="7315200" y="3794760"/>
            <a:ext cx="3749040" cy="1371600"/>
          </a:xfrm>
          <a:prstGeom prst="rect">
            <a:avLst/>
          </a:prstGeom>
          <a:noFill/>
          <a:ln/>
        </p:spPr>
        <p:txBody>
          <a:bodyPr wrap="square" lIns="0" tIns="0" rIns="0" bIns="0" rtlCol="0" anchor="t"/>
          <a:lstStyle/>
          <a:p>
            <a:pPr marL="0" indent="0">
              <a:lnSpc>
                <a:spcPts val="1700"/>
              </a:lnSpc>
              <a:buNone/>
            </a:pPr>
            <a:r>
              <a:rPr lang="en-US" sz="1200" dirty="0">
                <a:solidFill>
                  <a:srgbClr val="1F2A44"/>
                </a:solidFill>
                <a:latin typeface="Calibri" pitchFamily="34" charset="0"/>
                <a:ea typeface="Calibri" pitchFamily="34" charset="-122"/>
                <a:cs typeface="Calibri" pitchFamily="34" charset="-120"/>
              </a:rPr>
              <a:t>Même méthodologie, même code, un fichier plus volumineux. C'est la seule différence entre cette démonstration et une mise en production.</a:t>
            </a:r>
            <a:endParaRPr lang="en-US" sz="1200" dirty="0"/>
          </a:p>
        </p:txBody>
      </p:sp>
      <p:sp>
        <p:nvSpPr>
          <p:cNvPr id="10" name="Text 8"/>
          <p:cNvSpPr txBox="1"/>
          <p:nvPr/>
        </p:nvSpPr>
        <p:spPr>
          <a:xfrm>
            <a:off x="10789920" y="626364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822960" y="566928"/>
            <a:ext cx="10515600" cy="274320"/>
          </a:xfrm>
          <a:prstGeom prst="rect">
            <a:avLst/>
          </a:prstGeom>
          <a:noFill/>
          <a:ln/>
        </p:spPr>
        <p:txBody>
          <a:bodyPr wrap="square" lIns="0" tIns="0" rIns="0" bIns="0" rtlCol="0" anchor="ctr"/>
          <a:lstStyle/>
          <a:p>
            <a:pPr marL="0" indent="0">
              <a:buNone/>
            </a:pPr>
            <a:r>
              <a:rPr lang="en-US" sz="1100" b="1" kern="0" spc="240" dirty="0">
                <a:solidFill>
                  <a:srgbClr val="1B5E55"/>
                </a:solidFill>
                <a:latin typeface="Calibri" pitchFamily="34" charset="0"/>
                <a:ea typeface="Calibri" pitchFamily="34" charset="-122"/>
                <a:cs typeface="Calibri" pitchFamily="34" charset="-120"/>
              </a:rPr>
              <a:t>CONCLUSION</a:t>
            </a:r>
            <a:endParaRPr lang="en-US" sz="1100" dirty="0"/>
          </a:p>
        </p:txBody>
      </p:sp>
      <p:sp>
        <p:nvSpPr>
          <p:cNvPr id="3" name="Text 1"/>
          <p:cNvSpPr txBox="1"/>
          <p:nvPr/>
        </p:nvSpPr>
        <p:spPr>
          <a:xfrm>
            <a:off x="822960" y="914400"/>
            <a:ext cx="10515600" cy="1554480"/>
          </a:xfrm>
          <a:prstGeom prst="rect">
            <a:avLst/>
          </a:prstGeom>
          <a:noFill/>
          <a:ln/>
        </p:spPr>
        <p:txBody>
          <a:bodyPr wrap="square" lIns="0" tIns="0" rIns="0" bIns="0" rtlCol="0" anchor="t"/>
          <a:lstStyle/>
          <a:p>
            <a:pPr marL="0" indent="0">
              <a:lnSpc>
                <a:spcPts val="4000"/>
              </a:lnSpc>
              <a:buNone/>
            </a:pPr>
            <a:r>
              <a:rPr lang="en-US" sz="3400" b="1" dirty="0">
                <a:solidFill>
                  <a:srgbClr val="1F2A44"/>
                </a:solidFill>
                <a:latin typeface="Cambria" pitchFamily="34" charset="0"/>
                <a:ea typeface="Cambria" pitchFamily="34" charset="-122"/>
                <a:cs typeface="Cambria" pitchFamily="34" charset="-120"/>
              </a:rPr>
              <a:t>Ce que nous ferions</a:t>
            </a:r>
            <a:endParaRPr lang="en-US" sz="3400" dirty="0"/>
          </a:p>
          <a:p>
            <a:pPr marL="0" indent="0">
              <a:lnSpc>
                <a:spcPts val="4000"/>
              </a:lnSpc>
              <a:buNone/>
            </a:pPr>
            <a:r>
              <a:rPr lang="en-US" sz="3400" b="1" dirty="0">
                <a:solidFill>
                  <a:srgbClr val="1F2A44"/>
                </a:solidFill>
                <a:latin typeface="Cambria" pitchFamily="34" charset="0"/>
                <a:ea typeface="Cambria" pitchFamily="34" charset="-122"/>
                <a:cs typeface="Cambria" pitchFamily="34" charset="-120"/>
              </a:rPr>
              <a:t>dès lundi matin</a:t>
            </a:r>
            <a:endParaRPr lang="en-US" sz="3400" dirty="0"/>
          </a:p>
        </p:txBody>
      </p:sp>
      <p:sp>
        <p:nvSpPr>
          <p:cNvPr id="4" name="Text 2"/>
          <p:cNvSpPr txBox="1"/>
          <p:nvPr/>
        </p:nvSpPr>
        <p:spPr>
          <a:xfrm>
            <a:off x="822960" y="2743200"/>
            <a:ext cx="685800" cy="457200"/>
          </a:xfrm>
          <a:prstGeom prst="rect">
            <a:avLst/>
          </a:prstGeom>
          <a:noFill/>
          <a:ln/>
        </p:spPr>
        <p:txBody>
          <a:bodyPr wrap="square" lIns="0" tIns="0" rIns="0" bIns="0" rtlCol="0" anchor="ctr"/>
          <a:lstStyle/>
          <a:p>
            <a:pPr marL="0" indent="0">
              <a:buNone/>
            </a:pPr>
            <a:r>
              <a:rPr lang="en-US" sz="2200" b="1" dirty="0">
                <a:solidFill>
                  <a:srgbClr val="1B5E55"/>
                </a:solidFill>
                <a:latin typeface="Cambria" pitchFamily="34" charset="0"/>
                <a:ea typeface="Cambria" pitchFamily="34" charset="-122"/>
                <a:cs typeface="Cambria" pitchFamily="34" charset="-120"/>
              </a:rPr>
              <a:t>01</a:t>
            </a:r>
            <a:endParaRPr lang="en-US" sz="2200" dirty="0"/>
          </a:p>
        </p:txBody>
      </p:sp>
      <p:sp>
        <p:nvSpPr>
          <p:cNvPr id="5" name="Text 3"/>
          <p:cNvSpPr txBox="1"/>
          <p:nvPr/>
        </p:nvSpPr>
        <p:spPr>
          <a:xfrm>
            <a:off x="1554480" y="2724912"/>
            <a:ext cx="4297680" cy="685800"/>
          </a:xfrm>
          <a:prstGeom prst="rect">
            <a:avLst/>
          </a:prstGeom>
          <a:noFill/>
          <a:ln/>
        </p:spPr>
        <p:txBody>
          <a:bodyPr wrap="square" lIns="0" tIns="0" rIns="0" bIns="0" rtlCol="0" anchor="t"/>
          <a:lstStyle/>
          <a:p>
            <a:pPr marL="0" indent="0">
              <a:lnSpc>
                <a:spcPts val="1900"/>
              </a:lnSpc>
              <a:buNone/>
            </a:pPr>
            <a:r>
              <a:rPr lang="en-US" sz="1400" b="1" dirty="0">
                <a:solidFill>
                  <a:srgbClr val="1F2A44"/>
                </a:solidFill>
                <a:latin typeface="Calibri" pitchFamily="34" charset="0"/>
                <a:ea typeface="Calibri" pitchFamily="34" charset="-122"/>
                <a:cs typeface="Calibri" pitchFamily="34" charset="-120"/>
              </a:rPr>
              <a:t>Relancer la chaîne sur les données complètes</a:t>
            </a:r>
            <a:endParaRPr lang="en-US" sz="1400" dirty="0"/>
          </a:p>
        </p:txBody>
      </p:sp>
      <p:sp>
        <p:nvSpPr>
          <p:cNvPr id="6" name="Text 4"/>
          <p:cNvSpPr txBox="1"/>
          <p:nvPr/>
        </p:nvSpPr>
        <p:spPr>
          <a:xfrm>
            <a:off x="1554480" y="3218688"/>
            <a:ext cx="4297680" cy="548640"/>
          </a:xfrm>
          <a:prstGeom prst="rect">
            <a:avLst/>
          </a:prstGeom>
          <a:noFill/>
          <a:ln/>
        </p:spPr>
        <p:txBody>
          <a:bodyPr wrap="square" lIns="0" tIns="0" rIns="0" bIns="0" rtlCol="0" anchor="t"/>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Aucun changement de méthode, seulement du volume.</a:t>
            </a:r>
            <a:endParaRPr lang="en-US" sz="1150" dirty="0"/>
          </a:p>
        </p:txBody>
      </p:sp>
      <p:sp>
        <p:nvSpPr>
          <p:cNvPr id="7" name="Text 5"/>
          <p:cNvSpPr txBox="1"/>
          <p:nvPr/>
        </p:nvSpPr>
        <p:spPr>
          <a:xfrm>
            <a:off x="6172200" y="2743200"/>
            <a:ext cx="685800" cy="457200"/>
          </a:xfrm>
          <a:prstGeom prst="rect">
            <a:avLst/>
          </a:prstGeom>
          <a:noFill/>
          <a:ln/>
        </p:spPr>
        <p:txBody>
          <a:bodyPr wrap="square" lIns="0" tIns="0" rIns="0" bIns="0" rtlCol="0" anchor="ctr"/>
          <a:lstStyle/>
          <a:p>
            <a:pPr marL="0" indent="0">
              <a:buNone/>
            </a:pPr>
            <a:r>
              <a:rPr lang="en-US" sz="2200" b="1" dirty="0">
                <a:solidFill>
                  <a:srgbClr val="1B5E55"/>
                </a:solidFill>
                <a:latin typeface="Cambria" pitchFamily="34" charset="0"/>
                <a:ea typeface="Cambria" pitchFamily="34" charset="-122"/>
                <a:cs typeface="Cambria" pitchFamily="34" charset="-120"/>
              </a:rPr>
              <a:t>02</a:t>
            </a:r>
            <a:endParaRPr lang="en-US" sz="2200" dirty="0"/>
          </a:p>
        </p:txBody>
      </p:sp>
      <p:sp>
        <p:nvSpPr>
          <p:cNvPr id="8" name="Text 6"/>
          <p:cNvSpPr txBox="1"/>
          <p:nvPr/>
        </p:nvSpPr>
        <p:spPr>
          <a:xfrm>
            <a:off x="6903720" y="2724912"/>
            <a:ext cx="4297680" cy="685800"/>
          </a:xfrm>
          <a:prstGeom prst="rect">
            <a:avLst/>
          </a:prstGeom>
          <a:noFill/>
          <a:ln/>
        </p:spPr>
        <p:txBody>
          <a:bodyPr wrap="square" lIns="0" tIns="0" rIns="0" bIns="0" rtlCol="0" anchor="t"/>
          <a:lstStyle/>
          <a:p>
            <a:pPr marL="0" indent="0">
              <a:lnSpc>
                <a:spcPts val="1900"/>
              </a:lnSpc>
              <a:buNone/>
            </a:pPr>
            <a:r>
              <a:rPr lang="en-US" sz="1400" b="1" dirty="0">
                <a:solidFill>
                  <a:srgbClr val="1F2A44"/>
                </a:solidFill>
                <a:latin typeface="Calibri" pitchFamily="34" charset="0"/>
                <a:ea typeface="Calibri" pitchFamily="34" charset="-122"/>
                <a:cs typeface="Calibri" pitchFamily="34" charset="-120"/>
              </a:rPr>
              <a:t>Réallouer le budget du magasin vers le digital</a:t>
            </a:r>
            <a:endParaRPr lang="en-US" sz="1400" dirty="0"/>
          </a:p>
        </p:txBody>
      </p:sp>
      <p:sp>
        <p:nvSpPr>
          <p:cNvPr id="9" name="Text 7"/>
          <p:cNvSpPr txBox="1"/>
          <p:nvPr/>
        </p:nvSpPr>
        <p:spPr>
          <a:xfrm>
            <a:off x="6903720" y="3218688"/>
            <a:ext cx="4297680" cy="548640"/>
          </a:xfrm>
          <a:prstGeom prst="rect">
            <a:avLst/>
          </a:prstGeom>
          <a:noFill/>
          <a:ln/>
        </p:spPr>
        <p:txBody>
          <a:bodyPr wrap="square" lIns="0" tIns="0" rIns="0" bIns="0" rtlCol="0" anchor="t"/>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Environ 500 € transférés, soit ~42 conversions de plus.</a:t>
            </a:r>
            <a:endParaRPr lang="en-US" sz="1150" dirty="0"/>
          </a:p>
        </p:txBody>
      </p:sp>
      <p:sp>
        <p:nvSpPr>
          <p:cNvPr id="10" name="Text 8"/>
          <p:cNvSpPr txBox="1"/>
          <p:nvPr/>
        </p:nvSpPr>
        <p:spPr>
          <a:xfrm>
            <a:off x="822960" y="4343400"/>
            <a:ext cx="685800" cy="457200"/>
          </a:xfrm>
          <a:prstGeom prst="rect">
            <a:avLst/>
          </a:prstGeom>
          <a:noFill/>
          <a:ln/>
        </p:spPr>
        <p:txBody>
          <a:bodyPr wrap="square" lIns="0" tIns="0" rIns="0" bIns="0" rtlCol="0" anchor="ctr"/>
          <a:lstStyle/>
          <a:p>
            <a:pPr marL="0" indent="0">
              <a:buNone/>
            </a:pPr>
            <a:r>
              <a:rPr lang="en-US" sz="2200" b="1" dirty="0">
                <a:solidFill>
                  <a:srgbClr val="1B5E55"/>
                </a:solidFill>
                <a:latin typeface="Cambria" pitchFamily="34" charset="0"/>
                <a:ea typeface="Cambria" pitchFamily="34" charset="-122"/>
                <a:cs typeface="Cambria" pitchFamily="34" charset="-120"/>
              </a:rPr>
              <a:t>03</a:t>
            </a:r>
            <a:endParaRPr lang="en-US" sz="2200" dirty="0"/>
          </a:p>
        </p:txBody>
      </p:sp>
      <p:sp>
        <p:nvSpPr>
          <p:cNvPr id="11" name="Text 9"/>
          <p:cNvSpPr txBox="1"/>
          <p:nvPr/>
        </p:nvSpPr>
        <p:spPr>
          <a:xfrm>
            <a:off x="1554480" y="4325112"/>
            <a:ext cx="4297680" cy="685800"/>
          </a:xfrm>
          <a:prstGeom prst="rect">
            <a:avLst/>
          </a:prstGeom>
          <a:noFill/>
          <a:ln/>
        </p:spPr>
        <p:txBody>
          <a:bodyPr wrap="square" lIns="0" tIns="0" rIns="0" bIns="0" rtlCol="0" anchor="t"/>
          <a:lstStyle/>
          <a:p>
            <a:pPr marL="0" indent="0">
              <a:lnSpc>
                <a:spcPts val="1900"/>
              </a:lnSpc>
              <a:buNone/>
            </a:pPr>
            <a:r>
              <a:rPr lang="en-US" sz="1400" b="1" dirty="0">
                <a:solidFill>
                  <a:srgbClr val="1F2A44"/>
                </a:solidFill>
                <a:latin typeface="Calibri" pitchFamily="34" charset="0"/>
                <a:ea typeface="Calibri" pitchFamily="34" charset="-122"/>
                <a:cs typeface="Calibri" pitchFamily="34" charset="-120"/>
              </a:rPr>
              <a:t>Contacter le client à risque aujourd'hui</a:t>
            </a:r>
            <a:endParaRPr lang="en-US" sz="1400" dirty="0"/>
          </a:p>
        </p:txBody>
      </p:sp>
      <p:sp>
        <p:nvSpPr>
          <p:cNvPr id="12" name="Text 10"/>
          <p:cNvSpPr txBox="1"/>
          <p:nvPr/>
        </p:nvSpPr>
        <p:spPr>
          <a:xfrm>
            <a:off x="1554480" y="4818888"/>
            <a:ext cx="4297680" cy="548640"/>
          </a:xfrm>
          <a:prstGeom prst="rect">
            <a:avLst/>
          </a:prstGeom>
          <a:noFill/>
          <a:ln/>
        </p:spPr>
        <p:txBody>
          <a:bodyPr wrap="square" lIns="0" tIns="0" rIns="0" bIns="0" rtlCol="0" anchor="t"/>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86,8 % de probabilité de départ, aucune action en cours.</a:t>
            </a:r>
            <a:endParaRPr lang="en-US" sz="1150" dirty="0"/>
          </a:p>
        </p:txBody>
      </p:sp>
      <p:sp>
        <p:nvSpPr>
          <p:cNvPr id="13" name="Text 11"/>
          <p:cNvSpPr txBox="1"/>
          <p:nvPr/>
        </p:nvSpPr>
        <p:spPr>
          <a:xfrm>
            <a:off x="6172200" y="4343400"/>
            <a:ext cx="685800" cy="457200"/>
          </a:xfrm>
          <a:prstGeom prst="rect">
            <a:avLst/>
          </a:prstGeom>
          <a:noFill/>
          <a:ln/>
        </p:spPr>
        <p:txBody>
          <a:bodyPr wrap="square" lIns="0" tIns="0" rIns="0" bIns="0" rtlCol="0" anchor="ctr"/>
          <a:lstStyle/>
          <a:p>
            <a:pPr marL="0" indent="0">
              <a:buNone/>
            </a:pPr>
            <a:r>
              <a:rPr lang="en-US" sz="2200" b="1" dirty="0">
                <a:solidFill>
                  <a:srgbClr val="1B5E55"/>
                </a:solidFill>
                <a:latin typeface="Cambria" pitchFamily="34" charset="0"/>
                <a:ea typeface="Cambria" pitchFamily="34" charset="-122"/>
                <a:cs typeface="Cambria" pitchFamily="34" charset="-120"/>
              </a:rPr>
              <a:t>04</a:t>
            </a:r>
            <a:endParaRPr lang="en-US" sz="2200" dirty="0"/>
          </a:p>
        </p:txBody>
      </p:sp>
      <p:sp>
        <p:nvSpPr>
          <p:cNvPr id="14" name="Text 12"/>
          <p:cNvSpPr txBox="1"/>
          <p:nvPr/>
        </p:nvSpPr>
        <p:spPr>
          <a:xfrm>
            <a:off x="6903720" y="4325112"/>
            <a:ext cx="4297680" cy="685800"/>
          </a:xfrm>
          <a:prstGeom prst="rect">
            <a:avLst/>
          </a:prstGeom>
          <a:noFill/>
          <a:ln/>
        </p:spPr>
        <p:txBody>
          <a:bodyPr wrap="square" lIns="0" tIns="0" rIns="0" bIns="0" rtlCol="0" anchor="t"/>
          <a:lstStyle/>
          <a:p>
            <a:pPr marL="0" indent="0">
              <a:lnSpc>
                <a:spcPts val="1900"/>
              </a:lnSpc>
              <a:buNone/>
            </a:pPr>
            <a:r>
              <a:rPr lang="en-US" sz="1400" b="1" dirty="0">
                <a:solidFill>
                  <a:srgbClr val="1F2A44"/>
                </a:solidFill>
                <a:latin typeface="Calibri" pitchFamily="34" charset="0"/>
                <a:ea typeface="Calibri" pitchFamily="34" charset="-122"/>
                <a:cs typeface="Calibri" pitchFamily="34" charset="-120"/>
              </a:rPr>
              <a:t>Corriger le défaut de couverture de la segmentation</a:t>
            </a:r>
            <a:endParaRPr lang="en-US" sz="1400" dirty="0"/>
          </a:p>
        </p:txBody>
      </p:sp>
      <p:sp>
        <p:nvSpPr>
          <p:cNvPr id="15" name="Text 13"/>
          <p:cNvSpPr txBox="1"/>
          <p:nvPr/>
        </p:nvSpPr>
        <p:spPr>
          <a:xfrm>
            <a:off x="6903720" y="4818888"/>
            <a:ext cx="4297680" cy="548640"/>
          </a:xfrm>
          <a:prstGeom prst="rect">
            <a:avLst/>
          </a:prstGeom>
          <a:noFill/>
          <a:ln/>
        </p:spPr>
        <p:txBody>
          <a:bodyPr wrap="square" lIns="0" tIns="0" rIns="0" bIns="0" rtlCol="0" anchor="t"/>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Aucun client ne doit rester hors de tout segment.</a:t>
            </a:r>
            <a:endParaRPr lang="en-US" sz="1150" dirty="0"/>
          </a:p>
        </p:txBody>
      </p:sp>
      <p:sp>
        <p:nvSpPr>
          <p:cNvPr id="16" name="Text 14"/>
          <p:cNvSpPr txBox="1"/>
          <p:nvPr/>
        </p:nvSpPr>
        <p:spPr>
          <a:xfrm>
            <a:off x="10789920" y="626364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2A44"/>
        </a:solidFill>
        <a:effectLst/>
      </p:bgPr>
    </p:bg>
    <p:spTree>
      <p:nvGrpSpPr>
        <p:cNvPr id="1" name=""/>
        <p:cNvGrpSpPr/>
        <p:nvPr/>
      </p:nvGrpSpPr>
      <p:grpSpPr>
        <a:xfrm>
          <a:off x="0" y="0"/>
          <a:ext cx="0" cy="0"/>
          <a:chOff x="0" y="0"/>
          <a:chExt cx="0" cy="0"/>
        </a:xfrm>
      </p:grpSpPr>
      <p:sp>
        <p:nvSpPr>
          <p:cNvPr id="2" name="Text 0"/>
          <p:cNvSpPr txBox="1"/>
          <p:nvPr/>
        </p:nvSpPr>
        <p:spPr>
          <a:xfrm>
            <a:off x="822960" y="2148840"/>
            <a:ext cx="8961120" cy="1737360"/>
          </a:xfrm>
          <a:prstGeom prst="rect">
            <a:avLst/>
          </a:prstGeom>
          <a:noFill/>
          <a:ln/>
        </p:spPr>
        <p:txBody>
          <a:bodyPr wrap="square" lIns="0" tIns="0" rIns="0" bIns="0" rtlCol="0" anchor="t"/>
          <a:lstStyle/>
          <a:p>
            <a:pPr marL="0" indent="0">
              <a:lnSpc>
                <a:spcPts val="5000"/>
              </a:lnSpc>
              <a:buNone/>
            </a:pPr>
            <a:r>
              <a:rPr lang="en-US" sz="4000" b="1" dirty="0">
                <a:solidFill>
                  <a:srgbClr val="FFFFFF"/>
                </a:solidFill>
                <a:latin typeface="Cambria" pitchFamily="34" charset="0"/>
                <a:ea typeface="Cambria" pitchFamily="34" charset="-122"/>
                <a:cs typeface="Cambria" pitchFamily="34" charset="-120"/>
              </a:rPr>
              <a:t>La réponse était</a:t>
            </a:r>
            <a:endParaRPr lang="en-US" sz="4000" dirty="0"/>
          </a:p>
          <a:p>
            <a:pPr marL="0" indent="0">
              <a:lnSpc>
                <a:spcPts val="5000"/>
              </a:lnSpc>
              <a:buNone/>
            </a:pPr>
            <a:r>
              <a:rPr lang="en-US" sz="4000" b="1" dirty="0">
                <a:solidFill>
                  <a:srgbClr val="FFFFFF"/>
                </a:solidFill>
                <a:latin typeface="Cambria" pitchFamily="34" charset="0"/>
                <a:ea typeface="Cambria" pitchFamily="34" charset="-122"/>
                <a:cs typeface="Cambria" pitchFamily="34" charset="-120"/>
              </a:rPr>
              <a:t>déjà dans les données</a:t>
            </a:r>
            <a:endParaRPr lang="en-US" sz="4000" dirty="0"/>
          </a:p>
        </p:txBody>
      </p:sp>
      <p:sp>
        <p:nvSpPr>
          <p:cNvPr id="4" name="Text 2"/>
          <p:cNvSpPr txBox="1"/>
          <p:nvPr/>
        </p:nvSpPr>
        <p:spPr>
          <a:xfrm>
            <a:off x="822960" y="5257800"/>
            <a:ext cx="8961120" cy="457200"/>
          </a:xfrm>
          <a:prstGeom prst="rect">
            <a:avLst/>
          </a:prstGeom>
          <a:noFill/>
          <a:ln/>
        </p:spPr>
        <p:txBody>
          <a:bodyPr wrap="square" lIns="0" tIns="0" rIns="0" bIns="0" rtlCol="0" anchor="ctr"/>
          <a:lstStyle/>
          <a:p>
            <a:pPr marL="0" indent="0">
              <a:buNone/>
            </a:pPr>
            <a:r>
              <a:rPr lang="en-US" sz="1300" i="1" dirty="0">
                <a:solidFill>
                  <a:srgbClr val="8FB8AE"/>
                </a:solidFill>
                <a:latin typeface="Calibri" pitchFamily="34" charset="0"/>
                <a:ea typeface="Calibri" pitchFamily="34" charset="-122"/>
                <a:cs typeface="Calibri" pitchFamily="34" charset="-120"/>
              </a:rPr>
              <a:t>Merci de votre attention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TotalTime>
  <Words>2755</Words>
  <Application>Microsoft Office PowerPoint</Application>
  <PresentationFormat>Widescreen</PresentationFormat>
  <Paragraphs>235</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Analyse et optimisation marketing basée sur la segmentation client</dc:title>
  <dc:subject>PptxGenJS Presentation</dc:subject>
  <dc:creator>Équipe marketing.optimization</dc:creator>
  <cp:lastModifiedBy>Hatix Ntsoa</cp:lastModifiedBy>
  <cp:revision>2</cp:revision>
  <dcterms:created xsi:type="dcterms:W3CDTF">2026-09-18T12:28:27Z</dcterms:created>
  <dcterms:modified xsi:type="dcterms:W3CDTF">2026-09-18T14:01:10Z</dcterms:modified>
</cp:coreProperties>
</file>